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939"/>
              </a:spcBef>
              <a:buNone/>
            </a:pP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6EA2E-1044-4035-B8B1-770E18CFC9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C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C8A656-510F-4744-B956-C3D2173D0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CA" sz="603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CA" sz="6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2920" y="181800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9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43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CA" sz="4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55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38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CA" sz="3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115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329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CA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7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3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274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CA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292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39440" y="7080120"/>
            <a:ext cx="318816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11160" y="7080120"/>
            <a:ext cx="2343240" cy="53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070A7C-E51E-4D25-B410-6E8711AC9FE0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44800" y="282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Wide, sunny backyard offering open space and great mountain views in the distance.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037600" y="1746360"/>
            <a:ext cx="996840" cy="140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 dining space opening to the backyard, flowing into a spacious kitchen.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54160" y="324432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Bright, open kitchen with ample cabinetry and sleek countertops—great space for everyday cooking and entertaining.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995120" y="46476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Primary bedroom highlight: plush tufted headboard, spacious layout, and soothing color palette.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0440" y="606780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Impressive front exterior with wide driveway and well-kept landscaping.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778200" y="34128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Ave, Kamloops, BC V2B 4H2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651120" y="785880"/>
            <a:ext cx="2825640" cy="551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70000"/>
              <a:buFont typeface="Wingdings" charset="2"/>
              <a:buChar char=""/>
            </a:pPr>
            <a:r>
              <a:rPr b="1" i="1" sz="1100">
                <a:solidFill>
                  <a:srgbClr val="000000"/>
                </a:solidFill>
                <a:latin typeface="Nimbus Roman"/>
              </a:rPr>
              <a:t>Bright and functional 3-level split townhome on Happyvale Avenue. Over 1,700 sq ft with a spacious layout. Updates noted as renovated in 2012. Double garage includes workshop space and a pass-through door to the rear yard. Pet- and rental-friendly complex with fees that include contingency reserve, insurance, maintenance grounds, management, sewer, snow removal, trash, and water.</a:t>
            </a:r>
            <a:endParaRPr lang="en-CA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111800" y="14288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Ave, Kamloops, BC V2B 4H2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139160" y="48445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Pet- And Rental-Friendly 3-Level Townhome With Double Garage, Mountain Views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132320" y="65754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$499,900.00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132320" y="61308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4 Bedrooms &amp; 2 Baths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DSC03355.jpg"/>
          <p:cNvPicPr>
            <a:picLocks noChangeAspect="1"/>
          </p:cNvPicPr>
          <p:nvPr/>
        </p:nvPicPr>
        <p:blipFill>
          <a:blip r:embed="rId3"/>
          <a:srcRect l="6632" r="6632"/>
          <a:stretch>
            <a:fillRect/>
          </a:stretch>
        </p:blipFill>
        <p:spPr>
          <a:xfrm>
            <a:off x="1255320" y="270000"/>
            <a:ext cx="1765800" cy="1358280"/>
          </a:xfrm>
          <a:prstGeom prst="rect">
            <a:avLst/>
          </a:prstGeom>
        </p:spPr>
      </p:pic>
      <p:pic>
        <p:nvPicPr>
          <p:cNvPr id="29" name="Picture 28" descr="DSC03378.jpg"/>
          <p:cNvPicPr>
            <a:picLocks noChangeAspect="1"/>
          </p:cNvPicPr>
          <p:nvPr/>
        </p:nvPicPr>
        <p:blipFill>
          <a:blip r:embed="rId4"/>
          <a:srcRect l="7407" r="7407"/>
          <a:stretch>
            <a:fillRect/>
          </a:stretch>
        </p:blipFill>
        <p:spPr>
          <a:xfrm>
            <a:off x="240480" y="1755720"/>
            <a:ext cx="1801800" cy="1411200"/>
          </a:xfrm>
          <a:prstGeom prst="rect">
            <a:avLst/>
          </a:prstGeom>
        </p:spPr>
      </p:pic>
      <p:pic>
        <p:nvPicPr>
          <p:cNvPr id="30" name="Picture 29" descr="DSC03411.jpg"/>
          <p:cNvPicPr>
            <a:picLocks noChangeAspect="1"/>
          </p:cNvPicPr>
          <p:nvPr/>
        </p:nvPicPr>
        <p:blipFill>
          <a:blip r:embed="rId5"/>
          <a:srcRect l="7507" r="7507"/>
          <a:stretch>
            <a:fillRect/>
          </a:stretch>
        </p:blipFill>
        <p:spPr>
          <a:xfrm>
            <a:off x="239760" y="4661640"/>
            <a:ext cx="1703880" cy="1334520"/>
          </a:xfrm>
          <a:prstGeom prst="rect">
            <a:avLst/>
          </a:prstGeom>
        </p:spPr>
      </p:pic>
      <p:pic>
        <p:nvPicPr>
          <p:cNvPr id="31" name="Picture 30" descr="DSC03387.jpg"/>
          <p:cNvPicPr>
            <a:picLocks noChangeAspect="1"/>
          </p:cNvPicPr>
          <p:nvPr/>
        </p:nvPicPr>
        <p:blipFill>
          <a:blip r:embed="rId6"/>
          <a:srcRect l="6512" r="6512"/>
          <a:stretch>
            <a:fillRect/>
          </a:stretch>
        </p:blipFill>
        <p:spPr>
          <a:xfrm>
            <a:off x="1319760" y="3267720"/>
            <a:ext cx="1700280" cy="1304280"/>
          </a:xfrm>
          <a:prstGeom prst="rect">
            <a:avLst/>
          </a:prstGeom>
        </p:spPr>
      </p:pic>
      <p:pic>
        <p:nvPicPr>
          <p:cNvPr id="32" name="Picture 31" descr="DSC03442.jpg"/>
          <p:cNvPicPr>
            <a:picLocks noChangeAspect="1"/>
          </p:cNvPicPr>
          <p:nvPr/>
        </p:nvPicPr>
        <p:blipFill>
          <a:blip r:embed="rId7"/>
          <a:srcRect l="7442" r="7442"/>
          <a:stretch>
            <a:fillRect/>
          </a:stretch>
        </p:blipFill>
        <p:spPr>
          <a:xfrm>
            <a:off x="1380960" y="6063840"/>
            <a:ext cx="1640520" cy="1285920"/>
          </a:xfrm>
          <a:prstGeom prst="rect">
            <a:avLst/>
          </a:prstGeom>
        </p:spPr>
      </p:pic>
      <p:pic>
        <p:nvPicPr>
          <p:cNvPr id="33" name="Picture 32" descr="DSC03343.jpg"/>
          <p:cNvPicPr>
            <a:picLocks noChangeAspect="1"/>
          </p:cNvPicPr>
          <p:nvPr/>
        </p:nvPicPr>
        <p:blipFill>
          <a:blip r:embed="rId8"/>
          <a:srcRect l="4093" r="4093"/>
          <a:stretch>
            <a:fillRect/>
          </a:stretch>
        </p:blipFill>
        <p:spPr>
          <a:xfrm>
            <a:off x="7064640" y="2086920"/>
            <a:ext cx="2665800" cy="19371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315720" y="224640"/>
            <a:ext cx="996840" cy="134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Bright backyard with lush grass and mature landscaping.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975680" y="1650240"/>
            <a:ext cx="1045800" cy="133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Backyard retreat with a fenced boundary and shade from mature trees.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89800" y="3106080"/>
            <a:ext cx="1033560" cy="13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Generous, well-kept backyard with patio-style space and mountain views—ideal for outdoor entertaining.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08520" y="6153840"/>
            <a:ext cx="1023480" cy="131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Step out to the covered balcony—an ideal spot for outdoor dining with a view of the green yard.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879200" y="4596840"/>
            <a:ext cx="1149840" cy="146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0" i="1" sz="1000">
                <a:solidFill>
                  <a:srgbClr val="000000"/>
                </a:solidFill>
                <a:latin typeface="Nimbus Roman"/>
              </a:rPr>
              <a:t>Comfortable living room with large TV wall, big window views, and plenty of space to relax.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778200" y="34164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Ave, Kamloops, BC V2B 4H2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7132320" y="34200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2000">
                <a:solidFill>
                  <a:srgbClr val="000000"/>
                </a:solidFill>
                <a:latin typeface="Nimbus Roman"/>
              </a:rPr>
              <a:t>4-1616 Happyvale Ave, Kamloops, BC V2B 4H2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00000" y="786240"/>
            <a:ext cx="2931480" cy="65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algn="l" pos="0"/>
                <a:tab algn="l" pos="347040"/>
                <a:tab algn="l" pos="898200"/>
                <a:tab algn="l" pos="4027680"/>
              </a:tabLst>
            </a:pPr>
            <a:r>
              <a:rPr b="1">
                <a:latin typeface="Nimbus Roman"/>
              </a:rPr>
              <a:t>Location:	Major Area: Kamloops and District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Minor Area: KAM - Brocklehurst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City: Kamloops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Postal Code: V2B 4H2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MLS®: 10353215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Style:	Type: Townhouse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Style: Cathedral Entry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Heating:	Forced Air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Central Air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Parking:	Parking Total: 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Garage Spaces: 2.0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Parking Features: Garage - Attached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Includes:	Fee Includes: Contingency Reserve, Insurance, Maintenance Grounds, Management, Sewer, Snow Removal, Trash, Water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Age:	Year Built: 1983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	Renovation noted: 2012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Taxes:	Taxes: $3,145 (2025)</a:t>
            </a:r>
          </a:p>
        </p:txBody>
      </p:sp>
      <p:sp>
        <p:nvSpPr>
          <p:cNvPr id="41" name=""/>
          <p:cNvSpPr txBox="1"/>
          <p:nvPr/>
        </p:nvSpPr>
        <p:spPr>
          <a:xfrm>
            <a:off x="6966720" y="768960"/>
            <a:ext cx="2952720" cy="534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algn="l" pos="1619280"/>
              </a:tabLst>
            </a:pPr>
            <a:r>
              <a:rPr b="1" i="1">
                <a:latin typeface="Nimbus Roman"/>
              </a:rPr>
              <a:t>INTERIOR (1,721 sqft (Total: 1,721 sqft))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/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Kitchen	10' 4" x 13' 11"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Living Room	14' 4" x 14' 9"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Dining Room	9' 2" x 8' 9"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Primary Bedroom	11' 8" x 10' 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Bedroom	8' 3" x 8' 9"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Bedroom	12' 7" x 12' 9"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Bedroom	8' 9" x 9' 9"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Bathroom - Full 4 PCE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Ensuite - Half 2 PCE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Laundry	9' 3" x 3'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Family Room	19' 3" x 12' 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>
                <a:latin typeface="Nimbus Roman"/>
              </a:rPr>
              <a:t>Storage	18' 9" x 6' </a:t>
            </a:r>
          </a:p>
          <a:p/>
        </p:txBody>
      </p:sp>
      <p:sp>
        <p:nvSpPr>
          <p:cNvPr id="42" name=""/>
          <p:cNvSpPr txBox="1"/>
          <p:nvPr/>
        </p:nvSpPr>
        <p:spPr>
          <a:xfrm>
            <a:off x="7091640" y="6444720"/>
            <a:ext cx="2587680" cy="44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b="1" i="1" sz="1600">
                <a:solidFill>
                  <a:srgbClr val="000000"/>
                </a:solidFill>
                <a:latin typeface="Nimbus Roman"/>
              </a:rPr>
              <a:t>Total (1,721 sqft sq. ft.)</a:t>
            </a:r>
            <a:endParaRPr lang="en-C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42" descr="DSC03349.jpg"/>
          <p:cNvPicPr>
            <a:picLocks noChangeAspect="1"/>
          </p:cNvPicPr>
          <p:nvPr/>
        </p:nvPicPr>
        <p:blipFill>
          <a:blip r:embed="rId3"/>
          <a:srcRect l="6818" r="6818"/>
          <a:stretch>
            <a:fillRect/>
          </a:stretch>
        </p:blipFill>
        <p:spPr>
          <a:xfrm>
            <a:off x="1322640" y="241560"/>
            <a:ext cx="1698120" cy="1311840"/>
          </a:xfrm>
          <a:prstGeom prst="rect">
            <a:avLst/>
          </a:prstGeom>
        </p:spPr>
      </p:pic>
      <p:pic>
        <p:nvPicPr>
          <p:cNvPr id="44" name="Picture 43" descr="DSC03351.jpg"/>
          <p:cNvPicPr>
            <a:picLocks noChangeAspect="1"/>
          </p:cNvPicPr>
          <p:nvPr/>
        </p:nvPicPr>
        <p:blipFill>
          <a:blip r:embed="rId4"/>
          <a:srcRect l="8510" r="8510"/>
          <a:stretch>
            <a:fillRect/>
          </a:stretch>
        </p:blipFill>
        <p:spPr>
          <a:xfrm>
            <a:off x="329760" y="1672920"/>
            <a:ext cx="1645920" cy="1323360"/>
          </a:xfrm>
          <a:prstGeom prst="rect">
            <a:avLst/>
          </a:prstGeom>
        </p:spPr>
      </p:pic>
      <p:pic>
        <p:nvPicPr>
          <p:cNvPr id="45" name="Picture 44" descr="DSC03356.jpg"/>
          <p:cNvPicPr>
            <a:picLocks noChangeAspect="1"/>
          </p:cNvPicPr>
          <p:nvPr/>
        </p:nvPicPr>
        <p:blipFill>
          <a:blip r:embed="rId5"/>
          <a:srcRect l="8814" r="8814"/>
          <a:stretch>
            <a:fillRect/>
          </a:stretch>
        </p:blipFill>
        <p:spPr>
          <a:xfrm>
            <a:off x="1323360" y="3106080"/>
            <a:ext cx="1697400" cy="1374840"/>
          </a:xfrm>
          <a:prstGeom prst="rect">
            <a:avLst/>
          </a:prstGeom>
        </p:spPr>
      </p:pic>
      <p:pic>
        <p:nvPicPr>
          <p:cNvPr id="46" name="Picture 45" descr="DSC03369.jpg"/>
          <p:cNvPicPr>
            <a:picLocks noChangeAspect="1"/>
          </p:cNvPicPr>
          <p:nvPr/>
        </p:nvPicPr>
        <p:blipFill>
          <a:blip r:embed="rId6"/>
          <a:srcRect l="13715" r="13715"/>
          <a:stretch>
            <a:fillRect/>
          </a:stretch>
        </p:blipFill>
        <p:spPr>
          <a:xfrm>
            <a:off x="289800" y="4596840"/>
            <a:ext cx="1589400" cy="1461240"/>
          </a:xfrm>
          <a:prstGeom prst="rect">
            <a:avLst/>
          </a:prstGeom>
        </p:spPr>
      </p:pic>
      <p:pic>
        <p:nvPicPr>
          <p:cNvPr id="47" name="Picture 46" descr="DSC03388.jpg"/>
          <p:cNvPicPr>
            <a:picLocks noChangeAspect="1"/>
          </p:cNvPicPr>
          <p:nvPr/>
        </p:nvPicPr>
        <p:blipFill>
          <a:blip r:embed="rId7"/>
          <a:srcRect l="6816" r="6816"/>
          <a:stretch>
            <a:fillRect/>
          </a:stretch>
        </p:blipFill>
        <p:spPr>
          <a:xfrm>
            <a:off x="1332000" y="6153840"/>
            <a:ext cx="1696320" cy="1310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LibreOffice/25.8.6.2$Linux_X86_64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2026-04-23T13:36:01Z</dcterms:created>
  <dc:creator/>
  <dc:description/>
  <dc:language>en-CA</dc:language>
  <cp:lastModifiedBy/>
  <dcterms:modified xsi:type="dcterms:W3CDTF">2026-04-23T16:52:26Z</dcterms:modified>
  <cp:revision>17</cp:revision>
  <dc:subject/>
  <dc:title/>
</cp:coreProperties>
</file>