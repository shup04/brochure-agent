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58400" cy="7772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939"/>
              </a:spcBef>
              <a:buNone/>
            </a:pP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BE6EA2E-1044-4035-B8B1-770E18CFC9E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CA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FC8A656-510F-4744-B956-C3D2173D09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CA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2920" y="309600"/>
            <a:ext cx="9052200" cy="1297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lang="en-CA" sz="603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CA" sz="60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2920" y="1818000"/>
            <a:ext cx="9052200" cy="450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93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43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CA" sz="4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55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38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CA" sz="38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115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329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CA" sz="32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77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3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CA" sz="274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CA" sz="2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292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39440" y="7080120"/>
            <a:ext cx="318816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11160" y="7080120"/>
            <a:ext cx="2343240" cy="53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4070A7C-E51E-4D25-B410-6E8711AC9FE0}" type="slidenum">
              <a:rPr lang="en-CA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CA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"/>
          <p:cNvSpPr txBox="1"/>
          <p:nvPr/>
        </p:nvSpPr>
        <p:spPr>
          <a:xfrm>
            <a:off x="244800" y="282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Wide open field and mountain views create a peaceful backdrop just beyond the home.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037600" y="1746360"/>
            <a:ext cx="996840" cy="140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Spacious primary bedroom with a striking accent wall and great natural light.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254160" y="324432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Fenced backyard opens toward lush green space and a broad field beyond.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1995120" y="46476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Sunny dining area connects easily to the covered deck and backyard outlook.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280440" y="606780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Light-filled kitchen offers an efficient layout and calming views of mature greenery.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3778200" y="34128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3651120" y="785880"/>
            <a:ext cx="2825640" cy="5514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-21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This bright and functional three-level split townhome offers over 1,700 square feet of well-planned living space in Brocklehurst.</a:t>
            </a:r>
            <a:endParaRPr lang="en-CA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A 2012 renovation updated the kitchen, flooring, appliances, windows, roof, lighting, decks, and railings for lasting everyday appeal.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The sunny dining area opens to a covered sundeck overlooking the fenced backyard and peaceful green space beyond.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A flexible four-bedroom layout includes main floor laundry, a generous family room, and excellent storage for busy households.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The double attached garage includes workshop space and rear yard access, complemented by extra driveway and assigned parking.</a:t>
            </a:r>
          </a:p>
          <a:p>
            <a:pPr marL="216000" indent="-21600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ct val="70000"/>
              <a:buFont typeface="Wingdings" charset="2"/>
              <a:buChar char=""/>
            </a:pPr>
            <a:r>
              <a:rPr b="1" i="1" sz="1100">
                <a:solidFill>
                  <a:srgbClr val="000000"/>
                </a:solidFill>
                <a:latin typeface="Nimbus Roman"/>
              </a:rPr>
              <a:t>Pet-friendly and rental-friendly, this home is close to schools, shopping, McArthur Island Park, and River’s Trail.</a:t>
            </a:r>
          </a:p>
        </p:txBody>
      </p:sp>
      <p:sp>
        <p:nvSpPr>
          <p:cNvPr id="23" name=""/>
          <p:cNvSpPr txBox="1"/>
          <p:nvPr/>
        </p:nvSpPr>
        <p:spPr>
          <a:xfrm>
            <a:off x="7111800" y="14288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139160" y="48445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Bright Brocklehurst Living Backing Onto Green Space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7132320" y="65754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$499,900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132320" y="61308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4 Bedrooms &amp; 2 Baths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Picture 27" descr="DSC03355.jpg"/>
          <p:cNvPicPr>
            <a:picLocks noChangeAspect="1"/>
          </p:cNvPicPr>
          <p:nvPr/>
        </p:nvPicPr>
        <p:blipFill>
          <a:blip r:embed="rId3"/>
          <a:srcRect l="6632" r="6632"/>
          <a:stretch>
            <a:fillRect/>
          </a:stretch>
        </p:blipFill>
        <p:spPr>
          <a:xfrm>
            <a:off x="1255320" y="270000"/>
            <a:ext cx="1765800" cy="1358280"/>
          </a:xfrm>
          <a:prstGeom prst="rect">
            <a:avLst/>
          </a:prstGeom>
        </p:spPr>
      </p:pic>
      <p:pic>
        <p:nvPicPr>
          <p:cNvPr id="29" name="Picture 28" descr="DSC03411.jpg"/>
          <p:cNvPicPr>
            <a:picLocks noChangeAspect="1"/>
          </p:cNvPicPr>
          <p:nvPr/>
        </p:nvPicPr>
        <p:blipFill>
          <a:blip r:embed="rId4"/>
          <a:srcRect l="7507" r="7507"/>
          <a:stretch>
            <a:fillRect/>
          </a:stretch>
        </p:blipFill>
        <p:spPr>
          <a:xfrm>
            <a:off x="240480" y="1755720"/>
            <a:ext cx="1801800" cy="1411200"/>
          </a:xfrm>
          <a:prstGeom prst="rect">
            <a:avLst/>
          </a:prstGeom>
        </p:spPr>
      </p:pic>
      <p:pic>
        <p:nvPicPr>
          <p:cNvPr id="30" name="Picture 29" descr="DSC03378.jpg"/>
          <p:cNvPicPr>
            <a:picLocks noChangeAspect="1"/>
          </p:cNvPicPr>
          <p:nvPr/>
        </p:nvPicPr>
        <p:blipFill>
          <a:blip r:embed="rId5"/>
          <a:srcRect l="7408" r="7408"/>
          <a:stretch>
            <a:fillRect/>
          </a:stretch>
        </p:blipFill>
        <p:spPr>
          <a:xfrm>
            <a:off x="239760" y="4661640"/>
            <a:ext cx="1703880" cy="1334520"/>
          </a:xfrm>
          <a:prstGeom prst="rect">
            <a:avLst/>
          </a:prstGeom>
        </p:spPr>
      </p:pic>
      <p:pic>
        <p:nvPicPr>
          <p:cNvPr id="31" name="Picture 30" descr="DSC03349.jpg"/>
          <p:cNvPicPr>
            <a:picLocks noChangeAspect="1"/>
          </p:cNvPicPr>
          <p:nvPr/>
        </p:nvPicPr>
        <p:blipFill>
          <a:blip r:embed="rId6"/>
          <a:srcRect l="6512" r="6512"/>
          <a:stretch>
            <a:fillRect/>
          </a:stretch>
        </p:blipFill>
        <p:spPr>
          <a:xfrm>
            <a:off x="1319760" y="3267720"/>
            <a:ext cx="1700280" cy="1304280"/>
          </a:xfrm>
          <a:prstGeom prst="rect">
            <a:avLst/>
          </a:prstGeom>
        </p:spPr>
      </p:pic>
      <p:pic>
        <p:nvPicPr>
          <p:cNvPr id="32" name="Picture 31" descr="DSC03381.jpg"/>
          <p:cNvPicPr>
            <a:picLocks noChangeAspect="1"/>
          </p:cNvPicPr>
          <p:nvPr/>
        </p:nvPicPr>
        <p:blipFill>
          <a:blip r:embed="rId7"/>
          <a:srcRect l="7442" r="7442"/>
          <a:stretch>
            <a:fillRect/>
          </a:stretch>
        </p:blipFill>
        <p:spPr>
          <a:xfrm>
            <a:off x="1380960" y="6063840"/>
            <a:ext cx="1640520" cy="1285920"/>
          </a:xfrm>
          <a:prstGeom prst="rect">
            <a:avLst/>
          </a:prstGeom>
        </p:spPr>
      </p:pic>
      <p:pic>
        <p:nvPicPr>
          <p:cNvPr id="33" name="Picture 32" descr="DSC03343.jpg"/>
          <p:cNvPicPr>
            <a:picLocks noChangeAspect="1"/>
          </p:cNvPicPr>
          <p:nvPr/>
        </p:nvPicPr>
        <p:blipFill>
          <a:blip r:embed="rId8"/>
          <a:srcRect l="4093" r="4093"/>
          <a:stretch>
            <a:fillRect/>
          </a:stretch>
        </p:blipFill>
        <p:spPr>
          <a:xfrm>
            <a:off x="7064640" y="2086920"/>
            <a:ext cx="2665800" cy="193716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blipFill rotWithShape="0">
          <a:blip r:embed="rId1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15720" y="224640"/>
            <a:ext cx="996840" cy="134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Covered deck provides space to barbeque, relax, and enjoy the leafy setting.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975680" y="1650240"/>
            <a:ext cx="1045800" cy="1337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Bright living room feels welcoming and open with soft natural light throughout.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289800" y="3106080"/>
            <a:ext cx="1033560" cy="1370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Clean full bathroom with natural light and timeless neutral finishes.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308520" y="6153840"/>
            <a:ext cx="1023480" cy="1317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Neighborhood green space offers an open feel with lovely mountain views nearby.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879200" y="4596840"/>
            <a:ext cx="1149840" cy="146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0" i="1" sz="1000">
                <a:solidFill>
                  <a:srgbClr val="000000"/>
                </a:solidFill>
                <a:latin typeface="Nimbus Roman"/>
              </a:rPr>
              <a:t>Versatile lower-level flex room suits hobbies, workouts, work, or family use.</a:t>
            </a:r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endParaRPr lang="en-CA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3778200" y="34164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132320" y="34200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2000">
                <a:solidFill>
                  <a:srgbClr val="000000"/>
                </a:solidFill>
                <a:latin typeface="Nimbus Roman"/>
              </a:rPr>
              <a:t>4-1616 Happyvale Ave</a:t>
            </a:r>
            <a:endParaRPr lang="en-CA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600000" y="786240"/>
            <a:ext cx="2931480" cy="6593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200000"/>
              </a:lnSpc>
              <a:spcBef>
                <a:spcPts val="0"/>
              </a:spcBef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Location:	Brocklehurst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Style:	Cathedral Entry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Heating:	Forced Air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Central Air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Includes:	Dishwasher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Electric Range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Refrigerator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Washer/Dryer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Deck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Private Yard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Pet Friendly</a:t>
            </a:r>
          </a:p>
          <a:p>
            <a:pPr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		Rental Friendly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Age:	42 Years</a:t>
            </a:r>
          </a:p>
          <a:p>
            <a:pPr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tabLst>
                <a:tab algn="l" pos="0"/>
                <a:tab algn="l" pos="347040"/>
                <a:tab algn="l" pos="898200"/>
                <a:tab algn="l" pos="40276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Taxes:	$3,145 (2025)</a:t>
            </a:r>
          </a:p>
        </p:txBody>
      </p:sp>
      <p:sp>
        <p:nvSpPr>
          <p:cNvPr id="41" name=""/>
          <p:cNvSpPr txBox="1"/>
          <p:nvPr/>
        </p:nvSpPr>
        <p:spPr>
          <a:xfrm>
            <a:off x="6966720" y="768960"/>
            <a:ext cx="2952720" cy="5347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Main (1,046 sq. ft.)</a:t>
            </a:r>
            <a:endParaRPr lang="en-CA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Kitchen	10' 4" x 13' 11"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Living Room	14' 4" x 14'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Dining Room	9' 2"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Primary Bedroom	11' 8" x 10'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8' 3" x 8'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Bathroom - Full	4 piece</a:t>
            </a:r>
          </a:p>
          <a:p>
            <a:pPr algn="ctr">
              <a:lnSpc>
                <a:spcPct val="150000"/>
              </a:lnSpc>
              <a:tabLst>
                <a:tab algn="l" pos="1619280"/>
              </a:tabLst>
            </a:pPr>
            <a:r>
              <a:rPr b="1" sz="1400" i="1">
                <a:solidFill>
                  <a:srgbClr val="000000"/>
                </a:solidFill>
                <a:latin typeface="Nimbus Roman"/>
              </a:rPr>
              <a:t>Basement (674.9 sq. ft.)</a:t>
            </a:r>
          </a:p>
          <a:p/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12' 7" x 12'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Bedroom	9' 8" x 9' 9"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Ensuite - Half	2 piece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Laundry	9' 3" x 3'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Family Room	19' 3" x 12' 6"</a:t>
            </a:r>
          </a:p>
          <a:p>
            <a:pPr>
              <a:lnSpc>
                <a:spcPct val="150000"/>
              </a:lnSpc>
              <a:tabLst>
                <a:tab algn="l" pos="1619280"/>
              </a:tabLst>
            </a:pPr>
            <a:r>
              <a:rPr b="1" sz="1400">
                <a:solidFill>
                  <a:srgbClr val="000000"/>
                </a:solidFill>
                <a:latin typeface="Nimbus Roman"/>
              </a:rPr>
              <a:t>Storage	18' 9" x 6'</a:t>
            </a:r>
          </a:p>
        </p:txBody>
      </p:sp>
      <p:sp>
        <p:nvSpPr>
          <p:cNvPr id="42" name=""/>
          <p:cNvSpPr txBox="1"/>
          <p:nvPr/>
        </p:nvSpPr>
        <p:spPr>
          <a:xfrm>
            <a:off x="7091640" y="6444720"/>
            <a:ext cx="2587680" cy="444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b="1" i="1" sz="1600">
                <a:solidFill>
                  <a:srgbClr val="000000"/>
                </a:solidFill>
                <a:latin typeface="Nimbus Roman"/>
              </a:rPr>
              <a:t>Total (1,721 sq. ft.)</a:t>
            </a:r>
            <a:endParaRPr lang="en-CA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2" descr="DSC03388.jpg"/>
          <p:cNvPicPr>
            <a:picLocks noChangeAspect="1"/>
          </p:cNvPicPr>
          <p:nvPr/>
        </p:nvPicPr>
        <p:blipFill>
          <a:blip r:embed="rId3"/>
          <a:srcRect l="6818" r="6818"/>
          <a:stretch>
            <a:fillRect/>
          </a:stretch>
        </p:blipFill>
        <p:spPr>
          <a:xfrm>
            <a:off x="1322640" y="241560"/>
            <a:ext cx="1698120" cy="1311840"/>
          </a:xfrm>
          <a:prstGeom prst="rect">
            <a:avLst/>
          </a:prstGeom>
        </p:spPr>
      </p:pic>
      <p:pic>
        <p:nvPicPr>
          <p:cNvPr id="44" name="Picture 43" descr="DSC03372.jpg"/>
          <p:cNvPicPr>
            <a:picLocks noChangeAspect="1"/>
          </p:cNvPicPr>
          <p:nvPr/>
        </p:nvPicPr>
        <p:blipFill>
          <a:blip r:embed="rId4"/>
          <a:srcRect l="8607" r="8607"/>
          <a:stretch>
            <a:fillRect/>
          </a:stretch>
        </p:blipFill>
        <p:spPr>
          <a:xfrm>
            <a:off x="329760" y="1672920"/>
            <a:ext cx="1645920" cy="1323360"/>
          </a:xfrm>
          <a:prstGeom prst="rect">
            <a:avLst/>
          </a:prstGeom>
        </p:spPr>
      </p:pic>
      <p:pic>
        <p:nvPicPr>
          <p:cNvPr id="45" name="Picture 44" descr="DSC03399.jpg"/>
          <p:cNvPicPr>
            <a:picLocks noChangeAspect="1"/>
          </p:cNvPicPr>
          <p:nvPr/>
        </p:nvPicPr>
        <p:blipFill>
          <a:blip r:embed="rId5"/>
          <a:srcRect l="8910" r="8910"/>
          <a:stretch>
            <a:fillRect/>
          </a:stretch>
        </p:blipFill>
        <p:spPr>
          <a:xfrm>
            <a:off x="1323360" y="3106080"/>
            <a:ext cx="1697400" cy="1374840"/>
          </a:xfrm>
          <a:prstGeom prst="rect">
            <a:avLst/>
          </a:prstGeom>
        </p:spPr>
      </p:pic>
      <p:pic>
        <p:nvPicPr>
          <p:cNvPr id="46" name="Picture 45" descr="DSC03428.jpg"/>
          <p:cNvPicPr>
            <a:picLocks noChangeAspect="1"/>
          </p:cNvPicPr>
          <p:nvPr/>
        </p:nvPicPr>
        <p:blipFill>
          <a:blip r:embed="rId6"/>
          <a:srcRect l="13715" r="13715"/>
          <a:stretch>
            <a:fillRect/>
          </a:stretch>
        </p:blipFill>
        <p:spPr>
          <a:xfrm>
            <a:off x="289800" y="4596840"/>
            <a:ext cx="1589400" cy="1461240"/>
          </a:xfrm>
          <a:prstGeom prst="rect">
            <a:avLst/>
          </a:prstGeom>
        </p:spPr>
      </p:pic>
      <p:pic>
        <p:nvPicPr>
          <p:cNvPr id="47" name="Picture 46" descr="DSC03356.jpg"/>
          <p:cNvPicPr>
            <a:picLocks noChangeAspect="1"/>
          </p:cNvPicPr>
          <p:nvPr/>
        </p:nvPicPr>
        <p:blipFill>
          <a:blip r:embed="rId7"/>
          <a:srcRect l="6816" r="6816"/>
          <a:stretch>
            <a:fillRect/>
          </a:stretch>
        </p:blipFill>
        <p:spPr>
          <a:xfrm>
            <a:off x="1332000" y="6153840"/>
            <a:ext cx="1696320" cy="1310400"/>
          </a:xfrm>
          <a:prstGeom prst="rect">
            <a:avLst/>
          </a:prstGeom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LibreOffice/25.8.6.2$Linux_X86_64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2026-04-23T13:36:01Z</dcterms:created>
  <dc:creator/>
  <dc:description/>
  <dc:language>en-CA</dc:language>
  <cp:lastModifiedBy/>
  <dcterms:modified xsi:type="dcterms:W3CDTF">2026-04-23T16:52:26Z</dcterms:modified>
  <cp:revision>17</cp:revision>
  <dc:subject/>
  <dc:title/>
</cp:coreProperties>
</file>