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1840" cy="450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39440" y="7080120"/>
            <a:ext cx="318780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1116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952E31-A23B-4DEC-8964-D0E38E3DDF2D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292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820800"/>
            <a:ext cx="9051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CA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39440" y="7080120"/>
            <a:ext cx="318780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1116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F18875-C1AF-4AC0-BC80-21A96445EAB5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2920" y="7080120"/>
            <a:ext cx="2342880" cy="53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2920" y="181872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244800" y="28260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A bright living room offers comfortable space for relaxing or entertaining.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2037600" y="1746360"/>
            <a:ext cx="996480" cy="14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open kitchen features ample cabinetry and an easy connection to dining.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254160" y="324432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Sliding doors bring natural light into the dining area and extend living outdoors.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1995120" y="464760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primary bedroom feels calm and comfortable with a large window and accent wall.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280440" y="606780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A flexible bonus room suits reading, media, hobbies, or a quiet workspace.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3778200" y="34128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Avenue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3651120" y="785880"/>
            <a:ext cx="2825280" cy="55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Enjoy a functional three-level split design offering over 1,700 square feet for family living, guests, or home office needs.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The sunny dining room opens to a sundeck with views over the fenced backyard and green space beyond.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Thoughtful 2012 updates include the kitchen, flooring, appliances, windows, roof, lighting, decks, and railings.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A double garage with workshop space, rear pass-through access, and four total parking spots adds everyday convenience.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This pet- and rental-friendly complex offers flexibility for owners, investors, and households with changing needs.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Set in Brocklehurst near schools, shopping, McArthur Island Park, and the scenic River’s Trail.</a:t>
            </a:r>
          </a:p>
        </p:txBody>
      </p:sp>
      <p:sp>
        <p:nvSpPr>
          <p:cNvPr id="24" name=""/>
          <p:cNvSpPr/>
          <p:nvPr/>
        </p:nvSpPr>
        <p:spPr>
          <a:xfrm>
            <a:off x="7111800" y="142884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Avenue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7139160" y="484452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1600">
                <a:solidFill>
                  <a:srgbClr val="000000"/>
                </a:solidFill>
                <a:latin typeface="Nimbus Roman"/>
              </a:rPr>
              <a:t>Bright Brocklehurst Townhome With Space To Grow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7132320" y="657540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$499,900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7132320" y="613080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" name="Picture 28" descr="DSC03372.jpg"/>
          <p:cNvPicPr>
            <a:picLocks noChangeAspect="1"/>
          </p:cNvPicPr>
          <p:nvPr/>
        </p:nvPicPr>
        <p:blipFill>
          <a:blip r:embed="rId3"/>
          <a:srcRect l="6731" r="6731"/>
          <a:stretch>
            <a:fillRect/>
          </a:stretch>
        </p:blipFill>
        <p:spPr>
          <a:xfrm>
            <a:off x="1255320" y="270000"/>
            <a:ext cx="1765440" cy="1357920"/>
          </a:xfrm>
          <a:prstGeom prst="rect">
            <a:avLst/>
          </a:prstGeom>
        </p:spPr>
      </p:pic>
      <p:pic>
        <p:nvPicPr>
          <p:cNvPr id="30" name="Picture 29" descr="DSC03381.jpg"/>
          <p:cNvPicPr>
            <a:picLocks noChangeAspect="1"/>
          </p:cNvPicPr>
          <p:nvPr/>
        </p:nvPicPr>
        <p:blipFill>
          <a:blip r:embed="rId4"/>
          <a:srcRect l="7405" r="7405"/>
          <a:stretch>
            <a:fillRect/>
          </a:stretch>
        </p:blipFill>
        <p:spPr>
          <a:xfrm>
            <a:off x="240480" y="1755720"/>
            <a:ext cx="1801440" cy="1410840"/>
          </a:xfrm>
          <a:prstGeom prst="rect">
            <a:avLst/>
          </a:prstGeom>
        </p:spPr>
      </p:pic>
      <p:pic>
        <p:nvPicPr>
          <p:cNvPr id="31" name="Picture 30" descr="DSC03411.jpg"/>
          <p:cNvPicPr>
            <a:picLocks noChangeAspect="1"/>
          </p:cNvPicPr>
          <p:nvPr/>
        </p:nvPicPr>
        <p:blipFill>
          <a:blip r:embed="rId5"/>
          <a:srcRect l="7505" r="7505"/>
          <a:stretch>
            <a:fillRect/>
          </a:stretch>
        </p:blipFill>
        <p:spPr>
          <a:xfrm>
            <a:off x="239760" y="4661640"/>
            <a:ext cx="1703520" cy="1334160"/>
          </a:xfrm>
          <a:prstGeom prst="rect">
            <a:avLst/>
          </a:prstGeom>
        </p:spPr>
      </p:pic>
      <p:pic>
        <p:nvPicPr>
          <p:cNvPr id="32" name="Picture 31" descr="DSC03378.jpg"/>
          <p:cNvPicPr>
            <a:picLocks noChangeAspect="1"/>
          </p:cNvPicPr>
          <p:nvPr/>
        </p:nvPicPr>
        <p:blipFill>
          <a:blip r:embed="rId6"/>
          <a:srcRect l="6509" r="6509"/>
          <a:stretch>
            <a:fillRect/>
          </a:stretch>
        </p:blipFill>
        <p:spPr>
          <a:xfrm>
            <a:off x="1319760" y="3267720"/>
            <a:ext cx="1699920" cy="1303920"/>
          </a:xfrm>
          <a:prstGeom prst="rect">
            <a:avLst/>
          </a:prstGeom>
        </p:spPr>
      </p:pic>
      <p:pic>
        <p:nvPicPr>
          <p:cNvPr id="33" name="Picture 32" descr="DSC03405.jpg"/>
          <p:cNvPicPr>
            <a:picLocks noChangeAspect="1"/>
          </p:cNvPicPr>
          <p:nvPr/>
        </p:nvPicPr>
        <p:blipFill>
          <a:blip r:embed="rId7"/>
          <a:srcRect l="7439" r="7439"/>
          <a:stretch>
            <a:fillRect/>
          </a:stretch>
        </p:blipFill>
        <p:spPr>
          <a:xfrm>
            <a:off x="1380960" y="6063840"/>
            <a:ext cx="1640160" cy="1285560"/>
          </a:xfrm>
          <a:prstGeom prst="rect">
            <a:avLst/>
          </a:prstGeom>
        </p:spPr>
      </p:pic>
      <p:pic>
        <p:nvPicPr>
          <p:cNvPr id="34" name="Picture 33" descr="DSC03343.jpg"/>
          <p:cNvPicPr>
            <a:picLocks noChangeAspect="1"/>
          </p:cNvPicPr>
          <p:nvPr/>
        </p:nvPicPr>
        <p:blipFill>
          <a:blip r:embed="rId8"/>
          <a:srcRect l="4091" r="4091"/>
          <a:stretch>
            <a:fillRect/>
          </a:stretch>
        </p:blipFill>
        <p:spPr>
          <a:xfrm>
            <a:off x="7064640" y="2086920"/>
            <a:ext cx="2665440" cy="19368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>
            <a:off x="315720" y="224640"/>
            <a:ext cx="99648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fenced yard backs onto green space shaded by mature trees.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1975680" y="1650240"/>
            <a:ext cx="1045440" cy="13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A covered balcony overlooks greenery and offers a relaxed spot for grilling.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289800" y="3106080"/>
            <a:ext cx="10332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finished lower level provides generous flex space for work, fitness, or play.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08520" y="6153840"/>
            <a:ext cx="1023120" cy="131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exterior highlights an attached garage and generous driveway parking.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879200" y="4596840"/>
            <a:ext cx="1149480" cy="146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i="1" sz="1000">
                <a:solidFill>
                  <a:srgbClr val="000000"/>
                </a:solidFill>
                <a:latin typeface="Nimbus Roman"/>
              </a:rPr>
              <a:t>The full bathroom includes vanity lighting, a tub-shower combo, and natural light.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778200" y="34164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Avenue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7132320" y="34200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Avenue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3600000" y="786240"/>
            <a:ext cx="2931120" cy="65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spcBef>
                <a:spcPts val="0"/>
              </a:spcBef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Cathedral Entry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Central Air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Electric Range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Refrigerator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Washer/Dryer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Deck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Private Yard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Pet Friendly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Rental Friendly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$3,145 (2025)</a:t>
            </a:r>
          </a:p>
        </p:txBody>
      </p:sp>
      <p:sp>
        <p:nvSpPr>
          <p:cNvPr id="42" name=""/>
          <p:cNvSpPr/>
          <p:nvPr/>
        </p:nvSpPr>
        <p:spPr>
          <a:xfrm>
            <a:off x="6966720" y="768960"/>
            <a:ext cx="2952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50000"/>
              </a:lnSpc>
              <a:tabLst>
                <a:tab algn="l" pos="147924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Main (1,046 sq. ft.)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Kitchen	10' 4" x 13' 11"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Living Room	14' 4" x 14' 9"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Dining Room	9' 2" x 8' 9"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Primary Bedroom	11' 8" x 10' 6"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8' 3" x 8' 9"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9' 8" x 9' 9"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Bathroom - Full	4 PCE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Ensuite - Half	2 PCE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Laundry	9' 3" x 3'</a:t>
            </a:r>
          </a:p>
          <a:p>
            <a:pPr algn="ctr">
              <a:lnSpc>
                <a:spcPct val="150000"/>
              </a:lnSpc>
              <a:tabLst>
                <a:tab algn="l" pos="147924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Basement (674.9 sq. ft.)</a:t>
            </a:r>
          </a:p>
          <a:p/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12' 7" x 12'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Family Room	19' 3" x 12' 6"</a:t>
            </a:r>
          </a:p>
          <a:p>
            <a:pPr>
              <a:lnSpc>
                <a:spcPct val="150000"/>
              </a:lnSpc>
              <a:tabLst>
                <a:tab algn="l" pos="147924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Storage	18' 9" x 6'</a:t>
            </a:r>
          </a:p>
        </p:txBody>
      </p:sp>
      <p:sp>
        <p:nvSpPr>
          <p:cNvPr id="43" name=""/>
          <p:cNvSpPr/>
          <p:nvPr/>
        </p:nvSpPr>
        <p:spPr>
          <a:xfrm>
            <a:off x="7091640" y="6444720"/>
            <a:ext cx="2587320" cy="44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Picture 43" descr="DSC03349.jpg"/>
          <p:cNvPicPr>
            <a:picLocks noChangeAspect="1"/>
          </p:cNvPicPr>
          <p:nvPr/>
        </p:nvPicPr>
        <p:blipFill>
          <a:blip r:embed="rId3"/>
          <a:srcRect l="6815" r="6815"/>
          <a:stretch>
            <a:fillRect/>
          </a:stretch>
        </p:blipFill>
        <p:spPr>
          <a:xfrm>
            <a:off x="1322640" y="241560"/>
            <a:ext cx="1697760" cy="1311480"/>
          </a:xfrm>
          <a:prstGeom prst="rect">
            <a:avLst/>
          </a:prstGeom>
        </p:spPr>
      </p:pic>
      <p:pic>
        <p:nvPicPr>
          <p:cNvPr id="45" name="Picture 44" descr="DSC03388.jpg"/>
          <p:cNvPicPr>
            <a:picLocks noChangeAspect="1"/>
          </p:cNvPicPr>
          <p:nvPr/>
        </p:nvPicPr>
        <p:blipFill>
          <a:blip r:embed="rId4"/>
          <a:srcRect l="8507" r="8507"/>
          <a:stretch>
            <a:fillRect/>
          </a:stretch>
        </p:blipFill>
        <p:spPr>
          <a:xfrm>
            <a:off x="329760" y="1672920"/>
            <a:ext cx="1645560" cy="1323000"/>
          </a:xfrm>
          <a:prstGeom prst="rect">
            <a:avLst/>
          </a:prstGeom>
        </p:spPr>
      </p:pic>
      <p:pic>
        <p:nvPicPr>
          <p:cNvPr id="46" name="Picture 45" descr="DSC03428.jpg"/>
          <p:cNvPicPr>
            <a:picLocks noChangeAspect="1"/>
          </p:cNvPicPr>
          <p:nvPr/>
        </p:nvPicPr>
        <p:blipFill>
          <a:blip r:embed="rId5"/>
          <a:srcRect l="8812" r="8812"/>
          <a:stretch>
            <a:fillRect/>
          </a:stretch>
        </p:blipFill>
        <p:spPr>
          <a:xfrm>
            <a:off x="1323360" y="3106080"/>
            <a:ext cx="1697040" cy="1374480"/>
          </a:xfrm>
          <a:prstGeom prst="rect">
            <a:avLst/>
          </a:prstGeom>
        </p:spPr>
      </p:pic>
      <p:pic>
        <p:nvPicPr>
          <p:cNvPr id="47" name="Picture 46" descr="DSC03399.jpg"/>
          <p:cNvPicPr>
            <a:picLocks noChangeAspect="1"/>
          </p:cNvPicPr>
          <p:nvPr/>
        </p:nvPicPr>
        <p:blipFill>
          <a:blip r:embed="rId6"/>
          <a:srcRect l="13799" r="13799"/>
          <a:stretch>
            <a:fillRect/>
          </a:stretch>
        </p:blipFill>
        <p:spPr>
          <a:xfrm>
            <a:off x="289800" y="4596840"/>
            <a:ext cx="1589040" cy="1460880"/>
          </a:xfrm>
          <a:prstGeom prst="rect">
            <a:avLst/>
          </a:prstGeom>
        </p:spPr>
      </p:pic>
      <p:pic>
        <p:nvPicPr>
          <p:cNvPr id="48" name="Picture 47" descr="DSC03442.jpg"/>
          <p:cNvPicPr>
            <a:picLocks noChangeAspect="1"/>
          </p:cNvPicPr>
          <p:nvPr/>
        </p:nvPicPr>
        <p:blipFill>
          <a:blip r:embed="rId7"/>
          <a:srcRect l="6813" r="6813"/>
          <a:stretch>
            <a:fillRect/>
          </a:stretch>
        </p:blipFill>
        <p:spPr>
          <a:xfrm>
            <a:off x="1332000" y="6153840"/>
            <a:ext cx="1695960" cy="131004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2026-05-02T21:13:45Z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