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58400" cy="77724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939"/>
              </a:spcBef>
              <a:buNone/>
            </a:pPr>
            <a:endParaRPr lang="en-CA" sz="4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BE6EA2E-1044-4035-B8B1-770E18CFC9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FC8A656-510F-4744-B956-C3D2173D09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CA" sz="60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9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439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CA" sz="4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55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38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CA" sz="38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115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329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CA" sz="32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77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2920" y="7080120"/>
            <a:ext cx="234324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39440" y="7080120"/>
            <a:ext cx="318816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11160" y="7080120"/>
            <a:ext cx="234324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4070A7C-E51E-4D25-B410-6E8711AC9FE0}" type="slidenum"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 txBox="1"/>
          <p:nvPr/>
        </p:nvSpPr>
        <p:spPr>
          <a:xfrm>
            <a:off x="244800" y="2826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Fenced backyard with mature shade and a peaceful setting backing onto open green space.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037600" y="1746360"/>
            <a:ext cx="996840" cy="140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Open green space and mountain views extend the sense of privacy behind the home.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254160" y="324432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Bright dining area connects seamlessly to the deck for easy everyday indoor-outdoor living.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995120" y="46476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Light-filled kitchen offers efficient workspace and pleasant outlooks to the greenery.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280440" y="60678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Inviting living room filled with natural light and comfortable space to gather or unwind.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778200" y="34128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651120" y="785880"/>
            <a:ext cx="2825640" cy="5514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-21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This bright cathedral-entry townhome offers more than 1,700 square feet of flexible living space in a convenient Brocklehurst location.</a:t>
            </a:r>
            <a:endParaRPr lang="en-C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Thoughtful 2012 renovations updated the kitchen, flooring, appliances, windows, roof, light fixtures, decks, and railings for lasting appeal.</a:t>
            </a:r>
          </a:p>
          <a:p>
            <a:pPr marL="216000" indent="-21600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The sunny dining area opens to a covered sundeck overlooking the fenced yard and peaceful green space beyond.</a:t>
            </a:r>
          </a:p>
          <a:p>
            <a:pPr marL="216000" indent="-21600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A spacious family room and basement bedroom provide versatile options for guests, a home office, hobbies, or recreation.</a:t>
            </a:r>
          </a:p>
          <a:p>
            <a:pPr marL="216000" indent="-21600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The double attached garage includes workshop space and rear yard pass-through access, complemented by four total parking spaces.</a:t>
            </a:r>
          </a:p>
          <a:p>
            <a:pPr marL="216000" indent="-21600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Pet- and rental-friendly, this home is close to schools, shopping, McArthur Island Park, and the scenic River’s Trail.</a:t>
            </a:r>
          </a:p>
        </p:txBody>
      </p:sp>
      <p:sp>
        <p:nvSpPr>
          <p:cNvPr id="23" name=""/>
          <p:cNvSpPr txBox="1"/>
          <p:nvPr/>
        </p:nvSpPr>
        <p:spPr>
          <a:xfrm>
            <a:off x="7111800" y="142884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7139160" y="484452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Bright Brocklehurst Living Backing Onto Green Space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7132320" y="65754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$499,900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7132320" y="61308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4 Bedrooms &amp; 2 Baths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Picture 27" descr="DSC03349.jpg"/>
          <p:cNvPicPr>
            <a:picLocks noChangeAspect="1"/>
          </p:cNvPicPr>
          <p:nvPr/>
        </p:nvPicPr>
        <p:blipFill>
          <a:blip r:embed="rId3"/>
          <a:srcRect l="6632" r="6632"/>
          <a:stretch>
            <a:fillRect/>
          </a:stretch>
        </p:blipFill>
        <p:spPr>
          <a:xfrm>
            <a:off x="1255320" y="270000"/>
            <a:ext cx="1765800" cy="1358280"/>
          </a:xfrm>
          <a:prstGeom prst="rect">
            <a:avLst/>
          </a:prstGeom>
        </p:spPr>
      </p:pic>
      <p:pic>
        <p:nvPicPr>
          <p:cNvPr id="29" name="Picture 28" descr="DSC03355.jpg"/>
          <p:cNvPicPr>
            <a:picLocks noChangeAspect="1"/>
          </p:cNvPicPr>
          <p:nvPr/>
        </p:nvPicPr>
        <p:blipFill>
          <a:blip r:embed="rId4"/>
          <a:srcRect l="7407" r="7407"/>
          <a:stretch>
            <a:fillRect/>
          </a:stretch>
        </p:blipFill>
        <p:spPr>
          <a:xfrm>
            <a:off x="240480" y="1755720"/>
            <a:ext cx="1801800" cy="1411200"/>
          </a:xfrm>
          <a:prstGeom prst="rect">
            <a:avLst/>
          </a:prstGeom>
        </p:spPr>
      </p:pic>
      <p:pic>
        <p:nvPicPr>
          <p:cNvPr id="30" name="Picture 29" descr="DSC03381.jpg"/>
          <p:cNvPicPr>
            <a:picLocks noChangeAspect="1"/>
          </p:cNvPicPr>
          <p:nvPr/>
        </p:nvPicPr>
        <p:blipFill>
          <a:blip r:embed="rId5"/>
          <a:srcRect l="7408" r="7408"/>
          <a:stretch>
            <a:fillRect/>
          </a:stretch>
        </p:blipFill>
        <p:spPr>
          <a:xfrm>
            <a:off x="239760" y="4661640"/>
            <a:ext cx="1703880" cy="1334520"/>
          </a:xfrm>
          <a:prstGeom prst="rect">
            <a:avLst/>
          </a:prstGeom>
        </p:spPr>
      </p:pic>
      <p:pic>
        <p:nvPicPr>
          <p:cNvPr id="31" name="Picture 30" descr="DSC03378.jpg"/>
          <p:cNvPicPr>
            <a:picLocks noChangeAspect="1"/>
          </p:cNvPicPr>
          <p:nvPr/>
        </p:nvPicPr>
        <p:blipFill>
          <a:blip r:embed="rId6"/>
          <a:srcRect l="6512" r="6512"/>
          <a:stretch>
            <a:fillRect/>
          </a:stretch>
        </p:blipFill>
        <p:spPr>
          <a:xfrm>
            <a:off x="1319760" y="3267720"/>
            <a:ext cx="1700280" cy="1304280"/>
          </a:xfrm>
          <a:prstGeom prst="rect">
            <a:avLst/>
          </a:prstGeom>
        </p:spPr>
      </p:pic>
      <p:pic>
        <p:nvPicPr>
          <p:cNvPr id="32" name="Picture 31" descr="DSC03372.jpg"/>
          <p:cNvPicPr>
            <a:picLocks noChangeAspect="1"/>
          </p:cNvPicPr>
          <p:nvPr/>
        </p:nvPicPr>
        <p:blipFill>
          <a:blip r:embed="rId7"/>
          <a:srcRect l="7541" r="7541"/>
          <a:stretch>
            <a:fillRect/>
          </a:stretch>
        </p:blipFill>
        <p:spPr>
          <a:xfrm>
            <a:off x="1380960" y="6063840"/>
            <a:ext cx="1640520" cy="1285920"/>
          </a:xfrm>
          <a:prstGeom prst="rect">
            <a:avLst/>
          </a:prstGeom>
        </p:spPr>
      </p:pic>
      <p:pic>
        <p:nvPicPr>
          <p:cNvPr id="33" name="Picture 32" descr="DSC03343.jpg"/>
          <p:cNvPicPr>
            <a:picLocks noChangeAspect="1"/>
          </p:cNvPicPr>
          <p:nvPr/>
        </p:nvPicPr>
        <p:blipFill>
          <a:blip r:embed="rId8"/>
          <a:srcRect l="4093" r="4093"/>
          <a:stretch>
            <a:fillRect/>
          </a:stretch>
        </p:blipFill>
        <p:spPr>
          <a:xfrm>
            <a:off x="7064640" y="2086920"/>
            <a:ext cx="2665800" cy="193716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 txBox="1"/>
          <p:nvPr/>
        </p:nvSpPr>
        <p:spPr>
          <a:xfrm>
            <a:off x="315720" y="22464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Covered deck offers room to dine, grill, and relax while overlooking mature trees.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975680" y="1650240"/>
            <a:ext cx="1045800" cy="1337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Spacious primary bedroom features soft finishes and abundant natural light for a calm.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289800" y="3106080"/>
            <a:ext cx="1033560" cy="1370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Full bathroom with natural light and a clean, functional design for daily ease.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308520" y="6153840"/>
            <a:ext cx="1023480" cy="131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Large lower-level rec room offers flexible space for work, fitness, media, or play.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879200" y="4596840"/>
            <a:ext cx="1149840" cy="146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Generous bedroom with soft natural tones and convenient access nearby for added comfort.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3778200" y="34164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132320" y="3420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3600000" y="786240"/>
            <a:ext cx="2931480" cy="6593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200000"/>
              </a:lnSpc>
              <a:spcBef>
                <a:spcPts val="0"/>
              </a:spcBef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Location:	Brocklehurst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Style:	Cathedral Entry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Heating:	Forced Air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Central Air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Includes:	Dishwasher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Electric Range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Refrigerator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Washer/Dryer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Deck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Private Yard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Pet Friendly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Rental Friendly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Taxes:	$3,145 (2025)</a:t>
            </a:r>
          </a:p>
        </p:txBody>
      </p:sp>
      <p:sp>
        <p:nvSpPr>
          <p:cNvPr id="41" name=""/>
          <p:cNvSpPr txBox="1"/>
          <p:nvPr/>
        </p:nvSpPr>
        <p:spPr>
          <a:xfrm>
            <a:off x="6966720" y="768960"/>
            <a:ext cx="2952720" cy="5347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50000"/>
              </a:lnSpc>
              <a:tabLst>
                <a:tab algn="l" pos="1619280"/>
              </a:tabLst>
            </a:pP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7091640" y="644472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Total (1,721 sq. ft.)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42" descr="DSC03388.jpg"/>
          <p:cNvPicPr>
            <a:picLocks noChangeAspect="1"/>
          </p:cNvPicPr>
          <p:nvPr/>
        </p:nvPicPr>
        <p:blipFill>
          <a:blip r:embed="rId3"/>
          <a:srcRect l="6818" r="6818"/>
          <a:stretch>
            <a:fillRect/>
          </a:stretch>
        </p:blipFill>
        <p:spPr>
          <a:xfrm>
            <a:off x="1322640" y="241560"/>
            <a:ext cx="1698120" cy="1311840"/>
          </a:xfrm>
          <a:prstGeom prst="rect">
            <a:avLst/>
          </a:prstGeom>
        </p:spPr>
      </p:pic>
      <p:pic>
        <p:nvPicPr>
          <p:cNvPr id="44" name="Picture 43" descr="DSC03411.jpg"/>
          <p:cNvPicPr>
            <a:picLocks noChangeAspect="1"/>
          </p:cNvPicPr>
          <p:nvPr/>
        </p:nvPicPr>
        <p:blipFill>
          <a:blip r:embed="rId4"/>
          <a:srcRect l="8607" r="8607"/>
          <a:stretch>
            <a:fillRect/>
          </a:stretch>
        </p:blipFill>
        <p:spPr>
          <a:xfrm>
            <a:off x="329760" y="1672920"/>
            <a:ext cx="1645920" cy="1323360"/>
          </a:xfrm>
          <a:prstGeom prst="rect">
            <a:avLst/>
          </a:prstGeom>
        </p:spPr>
      </p:pic>
      <p:pic>
        <p:nvPicPr>
          <p:cNvPr id="45" name="Picture 44" descr="DSC03399.jpg"/>
          <p:cNvPicPr>
            <a:picLocks noChangeAspect="1"/>
          </p:cNvPicPr>
          <p:nvPr/>
        </p:nvPicPr>
        <p:blipFill>
          <a:blip r:embed="rId5"/>
          <a:srcRect l="8910" r="8910"/>
          <a:stretch>
            <a:fillRect/>
          </a:stretch>
        </p:blipFill>
        <p:spPr>
          <a:xfrm>
            <a:off x="1323360" y="3106080"/>
            <a:ext cx="1697400" cy="1374840"/>
          </a:xfrm>
          <a:prstGeom prst="rect">
            <a:avLst/>
          </a:prstGeom>
        </p:spPr>
      </p:pic>
      <p:pic>
        <p:nvPicPr>
          <p:cNvPr id="46" name="Picture 45" descr="DSC03423.jpg"/>
          <p:cNvPicPr>
            <a:picLocks noChangeAspect="1"/>
          </p:cNvPicPr>
          <p:nvPr/>
        </p:nvPicPr>
        <p:blipFill>
          <a:blip r:embed="rId6"/>
          <a:srcRect l="13715" r="13715"/>
          <a:stretch>
            <a:fillRect/>
          </a:stretch>
        </p:blipFill>
        <p:spPr>
          <a:xfrm>
            <a:off x="289800" y="4596840"/>
            <a:ext cx="1589400" cy="1461240"/>
          </a:xfrm>
          <a:prstGeom prst="rect">
            <a:avLst/>
          </a:prstGeom>
        </p:spPr>
      </p:pic>
      <p:pic>
        <p:nvPicPr>
          <p:cNvPr id="47" name="Picture 46" descr="DSC03428.jpg"/>
          <p:cNvPicPr>
            <a:picLocks noChangeAspect="1"/>
          </p:cNvPicPr>
          <p:nvPr/>
        </p:nvPicPr>
        <p:blipFill>
          <a:blip r:embed="rId7"/>
          <a:srcRect l="6816" r="6816"/>
          <a:stretch>
            <a:fillRect/>
          </a:stretch>
        </p:blipFill>
        <p:spPr>
          <a:xfrm>
            <a:off x="1332000" y="6153840"/>
            <a:ext cx="1696320" cy="131040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</TotalTime>
  <Application>LibreOffice/25.8.6.2$Linux_X86_64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2026-04-23T13:36:01Z</dcterms:created>
  <dc:creator/>
  <dc:description/>
  <dc:language>en-CA</dc:language>
  <cp:lastModifiedBy/>
  <dcterms:modified xsi:type="dcterms:W3CDTF">2026-04-23T16:52:26Z</dcterms:modified>
  <cp:revision>17</cp:revision>
  <dc:subject/>
  <dc:title/>
</cp:coreProperties>
</file>