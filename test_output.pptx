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58400" cy="7772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939"/>
              </a:spcBef>
              <a:buNone/>
            </a:pPr>
            <a:endParaRPr lang="en-CA" sz="4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E6EA2E-1044-4035-B8B1-770E18CFC9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C8A656-510F-4744-B956-C3D2173D09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CA" sz="60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9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43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4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5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38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38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11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7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2920" y="7080120"/>
            <a:ext cx="234324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39440" y="7080120"/>
            <a:ext cx="318816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11160" y="7080120"/>
            <a:ext cx="234324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070A7C-E51E-4D25-B410-6E8711AC9FE0}" type="slidenum"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244800" y="2826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Open green outlook with mountain views, adding a peaceful backdrop to everyday living.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037600" y="1746360"/>
            <a:ext cx="996840" cy="140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Dining area connects seamlessly to the kitchen and opens directly onto the sunny deck.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54160" y="324432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Bright kitchen with peninsula seating, ample prep space, and leafy views from the window.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995120" y="46476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Fenced backyard with mature shade, open lawn, and a pleasant green outlook beyond.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80440" y="60678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Welcoming living room filled with natural light from the large front-facing window.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778200" y="34128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651120" y="785880"/>
            <a:ext cx="2825640" cy="551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Bright and functional cathedral-entry townhome offering over 1,700 sq. ft. across a flexible three-level split design.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Thoughtfully renovated in 2012 with updates to the kitchen, flooring, appliances, windows, roof, lighting, decks, and railings.</a:t>
            </a:r>
          </a:p>
          <a:p>
            <a:pPr marL="216000" indent="-21600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The sunny dining area opens to a sundeck overlooking the fenced yard and peaceful green space beyond.</a:t>
            </a:r>
          </a:p>
          <a:p>
            <a:pPr marL="216000" indent="-21600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A versatile layout includes main floor laundry, a spacious family room, and a lower-level bedroom ideal for guests or a home office.</a:t>
            </a:r>
          </a:p>
          <a:p>
            <a:pPr marL="216000" indent="-21600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The double attached garage provides workshop potential and rear yard access, complemented by driveway parking and an assigned stall.</a:t>
            </a:r>
          </a:p>
          <a:p>
            <a:pPr marL="216000" indent="-21600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Pet- and rental-friendly in Brocklehurst, close to schools, shopping, McArthur Island Park, and the scenic River’s Trail.</a:t>
            </a:r>
          </a:p>
        </p:txBody>
      </p:sp>
      <p:sp>
        <p:nvSpPr>
          <p:cNvPr id="23" name=""/>
          <p:cNvSpPr txBox="1"/>
          <p:nvPr/>
        </p:nvSpPr>
        <p:spPr>
          <a:xfrm>
            <a:off x="7111800" y="142884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139160" y="484452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Bright Brocklehurst Townhome With Greenbelt Views And Room To Grow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132320" y="65754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$499,900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132320" y="61308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4 Bedrooms &amp; 2 Baths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7" descr="DSC03355.jpg"/>
          <p:cNvPicPr>
            <a:picLocks noChangeAspect="1"/>
          </p:cNvPicPr>
          <p:nvPr/>
        </p:nvPicPr>
        <p:blipFill>
          <a:blip r:embed="rId3"/>
          <a:srcRect l="6632" r="6632"/>
          <a:stretch>
            <a:fillRect/>
          </a:stretch>
        </p:blipFill>
        <p:spPr>
          <a:xfrm>
            <a:off x="1255320" y="270000"/>
            <a:ext cx="1765800" cy="1358280"/>
          </a:xfrm>
          <a:prstGeom prst="rect">
            <a:avLst/>
          </a:prstGeom>
        </p:spPr>
      </p:pic>
      <p:pic>
        <p:nvPicPr>
          <p:cNvPr id="29" name="Picture 28" descr="DSC03378.jpg"/>
          <p:cNvPicPr>
            <a:picLocks noChangeAspect="1"/>
          </p:cNvPicPr>
          <p:nvPr/>
        </p:nvPicPr>
        <p:blipFill>
          <a:blip r:embed="rId4"/>
          <a:srcRect l="7407" r="7407"/>
          <a:stretch>
            <a:fillRect/>
          </a:stretch>
        </p:blipFill>
        <p:spPr>
          <a:xfrm>
            <a:off x="240480" y="1755720"/>
            <a:ext cx="1801800" cy="1411200"/>
          </a:xfrm>
          <a:prstGeom prst="rect">
            <a:avLst/>
          </a:prstGeom>
        </p:spPr>
      </p:pic>
      <p:pic>
        <p:nvPicPr>
          <p:cNvPr id="30" name="Picture 29" descr="DSC03349.jpg"/>
          <p:cNvPicPr>
            <a:picLocks noChangeAspect="1"/>
          </p:cNvPicPr>
          <p:nvPr/>
        </p:nvPicPr>
        <p:blipFill>
          <a:blip r:embed="rId5"/>
          <a:srcRect l="7408" r="7408"/>
          <a:stretch>
            <a:fillRect/>
          </a:stretch>
        </p:blipFill>
        <p:spPr>
          <a:xfrm>
            <a:off x="239760" y="4661640"/>
            <a:ext cx="1703880" cy="1334520"/>
          </a:xfrm>
          <a:prstGeom prst="rect">
            <a:avLst/>
          </a:prstGeom>
        </p:spPr>
      </p:pic>
      <p:pic>
        <p:nvPicPr>
          <p:cNvPr id="31" name="Picture 30" descr="DSC03381.jpg"/>
          <p:cNvPicPr>
            <a:picLocks noChangeAspect="1"/>
          </p:cNvPicPr>
          <p:nvPr/>
        </p:nvPicPr>
        <p:blipFill>
          <a:blip r:embed="rId6"/>
          <a:srcRect l="6512" r="6512"/>
          <a:stretch>
            <a:fillRect/>
          </a:stretch>
        </p:blipFill>
        <p:spPr>
          <a:xfrm>
            <a:off x="1319760" y="3267720"/>
            <a:ext cx="1700280" cy="1304280"/>
          </a:xfrm>
          <a:prstGeom prst="rect">
            <a:avLst/>
          </a:prstGeom>
        </p:spPr>
      </p:pic>
      <p:pic>
        <p:nvPicPr>
          <p:cNvPr id="32" name="Picture 31" descr="DSC03372.jpg"/>
          <p:cNvPicPr>
            <a:picLocks noChangeAspect="1"/>
          </p:cNvPicPr>
          <p:nvPr/>
        </p:nvPicPr>
        <p:blipFill>
          <a:blip r:embed="rId7"/>
          <a:srcRect l="7541" r="7541"/>
          <a:stretch>
            <a:fillRect/>
          </a:stretch>
        </p:blipFill>
        <p:spPr>
          <a:xfrm>
            <a:off x="1380960" y="6063840"/>
            <a:ext cx="1640520" cy="1285920"/>
          </a:xfrm>
          <a:prstGeom prst="rect">
            <a:avLst/>
          </a:prstGeom>
        </p:spPr>
      </p:pic>
      <p:pic>
        <p:nvPicPr>
          <p:cNvPr id="33" name="Picture 32" descr="DSC03343.jpg"/>
          <p:cNvPicPr>
            <a:picLocks noChangeAspect="1"/>
          </p:cNvPicPr>
          <p:nvPr/>
        </p:nvPicPr>
        <p:blipFill>
          <a:blip r:embed="rId8"/>
          <a:srcRect l="4093" r="4093"/>
          <a:stretch>
            <a:fillRect/>
          </a:stretch>
        </p:blipFill>
        <p:spPr>
          <a:xfrm>
            <a:off x="7064640" y="2086920"/>
            <a:ext cx="2665800" cy="19371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315720" y="22464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Covered deck with room for grilling, dining, and enjoying the private backyard setting.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975680" y="1650240"/>
            <a:ext cx="1045800" cy="133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Spacious primary bedroom featuring soft carpet, natural light, and a stylish accent wall.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89800" y="3106080"/>
            <a:ext cx="1033560" cy="1370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Flexible lower-level rec room suited to media, workouts, hobbies, or work-from-home needs.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08520" y="6153840"/>
            <a:ext cx="1023480" cy="131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Versatile bedroom works equally well for guests, a nursery, or a bright home office.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879200" y="4596840"/>
            <a:ext cx="1149840" cy="146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Clean, bright full bathroom with natural light and a practical everyday layout.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778200" y="34164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132320" y="3420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600000" y="786240"/>
            <a:ext cx="2931480" cy="659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200000"/>
              </a:lnSpc>
              <a:spcBef>
                <a:spcPts val="0"/>
              </a:spcBef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Location:	Brocklehurst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Style:		Cathedral Entry</a:t>
            </a:r>
          </a:p>
          <a:p>
            <a:pPr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Heating:	Forced Air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	Central Air</a:t>
            </a:r>
          </a:p>
          <a:p>
            <a:pPr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Includes:	Dishwasher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	Electric Range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	Refrigerator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	Washer/Dryer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	Deck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	Private Yard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	Pet Friendly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	Rental Friendly</a:t>
            </a:r>
          </a:p>
          <a:p>
            <a:pPr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Age:		42 Years</a:t>
            </a:r>
          </a:p>
          <a:p>
            <a:pPr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Taxes:		$3,145 (2025)</a:t>
            </a:r>
          </a:p>
        </p:txBody>
      </p:sp>
      <p:sp>
        <p:nvSpPr>
          <p:cNvPr id="41" name=""/>
          <p:cNvSpPr txBox="1"/>
          <p:nvPr/>
        </p:nvSpPr>
        <p:spPr>
          <a:xfrm>
            <a:off x="6966720" y="768960"/>
            <a:ext cx="2952720" cy="534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50000"/>
              </a:lnSpc>
              <a:tabLst>
                <a:tab algn="l" pos="1619280"/>
              </a:tabLst>
            </a:pPr>
            <a:r>
              <a:rPr b="1" sz="1400" i="1">
                <a:solidFill>
                  <a:srgbClr val="000000"/>
                </a:solidFill>
                <a:latin typeface="Nimbus Roman"/>
              </a:rPr>
              <a:t>Main &amp; Upper (1,046 sq. ft.)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/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Kitchen	10' 4" x 13' 11"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Living Room	14' 4" x 14' 9"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Dining Room	9' 2" x 8' 9"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Primary Bedroom	11' 8" x 10' 6"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Bedroom	8' 3" x 8' 9"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Bedroom	12' 7" x 12'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Bathroom	4 piece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Ensuite	2 piece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Laundry	9' 3" x 3'</a:t>
            </a:r>
          </a:p>
          <a:p>
            <a:pPr algn="ctr">
              <a:lnSpc>
                <a:spcPct val="150000"/>
              </a:lnSpc>
              <a:tabLst>
                <a:tab algn="l" pos="1619280"/>
              </a:tabLst>
            </a:pPr>
            <a:r>
              <a:rPr b="1" sz="1400" i="1">
                <a:solidFill>
                  <a:srgbClr val="000000"/>
                </a:solidFill>
                <a:latin typeface="Nimbus Roman"/>
              </a:rPr>
              <a:t>Lower (675 sq. ft.)</a:t>
            </a:r>
          </a:p>
          <a:p/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Bedroom	9' 8" x 9' 9"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Family Room	19' 3" x 12' 6"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Storage	18' 9" x 6'</a:t>
            </a:r>
          </a:p>
        </p:txBody>
      </p:sp>
      <p:sp>
        <p:nvSpPr>
          <p:cNvPr id="42" name=""/>
          <p:cNvSpPr txBox="1"/>
          <p:nvPr/>
        </p:nvSpPr>
        <p:spPr>
          <a:xfrm>
            <a:off x="7091640" y="644472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Total (1,721 sq. ft.)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42" descr="DSC03388.jpg"/>
          <p:cNvPicPr>
            <a:picLocks noChangeAspect="1"/>
          </p:cNvPicPr>
          <p:nvPr/>
        </p:nvPicPr>
        <p:blipFill>
          <a:blip r:embed="rId3"/>
          <a:srcRect l="6818" r="6818"/>
          <a:stretch>
            <a:fillRect/>
          </a:stretch>
        </p:blipFill>
        <p:spPr>
          <a:xfrm>
            <a:off x="1322640" y="241560"/>
            <a:ext cx="1698120" cy="1311840"/>
          </a:xfrm>
          <a:prstGeom prst="rect">
            <a:avLst/>
          </a:prstGeom>
        </p:spPr>
      </p:pic>
      <p:pic>
        <p:nvPicPr>
          <p:cNvPr id="44" name="Picture 43" descr="DSC03411.jpg"/>
          <p:cNvPicPr>
            <a:picLocks noChangeAspect="1"/>
          </p:cNvPicPr>
          <p:nvPr/>
        </p:nvPicPr>
        <p:blipFill>
          <a:blip r:embed="rId4"/>
          <a:srcRect l="8607" r="8607"/>
          <a:stretch>
            <a:fillRect/>
          </a:stretch>
        </p:blipFill>
        <p:spPr>
          <a:xfrm>
            <a:off x="329760" y="1672920"/>
            <a:ext cx="1645920" cy="1323360"/>
          </a:xfrm>
          <a:prstGeom prst="rect">
            <a:avLst/>
          </a:prstGeom>
        </p:spPr>
      </p:pic>
      <p:pic>
        <p:nvPicPr>
          <p:cNvPr id="45" name="Picture 44" descr="DSC03428.jpg"/>
          <p:cNvPicPr>
            <a:picLocks noChangeAspect="1"/>
          </p:cNvPicPr>
          <p:nvPr/>
        </p:nvPicPr>
        <p:blipFill>
          <a:blip r:embed="rId5"/>
          <a:srcRect l="8814" r="8814"/>
          <a:stretch>
            <a:fillRect/>
          </a:stretch>
        </p:blipFill>
        <p:spPr>
          <a:xfrm>
            <a:off x="1323360" y="3106080"/>
            <a:ext cx="1697400" cy="1374840"/>
          </a:xfrm>
          <a:prstGeom prst="rect">
            <a:avLst/>
          </a:prstGeom>
        </p:spPr>
      </p:pic>
      <p:pic>
        <p:nvPicPr>
          <p:cNvPr id="46" name="Picture 45" descr="DSC03399.jpg"/>
          <p:cNvPicPr>
            <a:picLocks noChangeAspect="1"/>
          </p:cNvPicPr>
          <p:nvPr/>
        </p:nvPicPr>
        <p:blipFill>
          <a:blip r:embed="rId6"/>
          <a:srcRect l="13800" r="13800"/>
          <a:stretch>
            <a:fillRect/>
          </a:stretch>
        </p:blipFill>
        <p:spPr>
          <a:xfrm>
            <a:off x="289800" y="4596840"/>
            <a:ext cx="1589400" cy="1461240"/>
          </a:xfrm>
          <a:prstGeom prst="rect">
            <a:avLst/>
          </a:prstGeom>
        </p:spPr>
      </p:pic>
      <p:pic>
        <p:nvPicPr>
          <p:cNvPr id="47" name="Picture 46" descr="DSC03408.jpg"/>
          <p:cNvPicPr>
            <a:picLocks noChangeAspect="1"/>
          </p:cNvPicPr>
          <p:nvPr/>
        </p:nvPicPr>
        <p:blipFill>
          <a:blip r:embed="rId7"/>
          <a:srcRect l="6917" r="6917"/>
          <a:stretch>
            <a:fillRect/>
          </a:stretch>
        </p:blipFill>
        <p:spPr>
          <a:xfrm>
            <a:off x="1332000" y="6153840"/>
            <a:ext cx="1696320" cy="13104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2026-04-23T13:36:01Z</dcterms:created>
  <dc:creator/>
  <dc:description/>
  <dc:language>en-CA</dc:language>
  <cp:lastModifiedBy/>
  <dcterms:modified xsi:type="dcterms:W3CDTF">2026-04-23T16:52:26Z</dcterms:modified>
  <cp:revision>17</cp:revision>
  <dc:subject/>
  <dc:title/>
</cp:coreProperties>
</file>