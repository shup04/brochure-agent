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58400" cy="77724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2920" y="820800"/>
            <a:ext cx="90514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2920" y="1818000"/>
            <a:ext cx="9051480" cy="450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3439440" y="7080120"/>
            <a:ext cx="318744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>
          <a:xfrm>
            <a:off x="7211160" y="7080120"/>
            <a:ext cx="2342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90B3A3F-89E4-4D28-AAD4-4D349F5C9963}" type="slidenum"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>
          <a:xfrm>
            <a:off x="502920" y="7080120"/>
            <a:ext cx="2342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2920" y="820800"/>
            <a:ext cx="90514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39440" y="7080120"/>
            <a:ext cx="318744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11160" y="7080120"/>
            <a:ext cx="2342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FBE0CCD-27BA-4FD2-A4CA-60195DFF7F81}" type="slidenum"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2920" y="7080120"/>
            <a:ext cx="2342520" cy="53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2920" y="1818720"/>
            <a:ext cx="9051840" cy="450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CA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CA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244800" y="757080"/>
            <a:ext cx="99612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0" i="1" sz="1000">
                <a:solidFill>
                  <a:srgbClr val="000000"/>
                </a:solidFill>
                <a:latin typeface="Nimbus Roman"/>
              </a:rPr>
              <a:t>A bright living room offers comfortable space and a wide front window.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2037600" y="2250720"/>
            <a:ext cx="99612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0" i="1" sz="1000">
                <a:solidFill>
                  <a:srgbClr val="000000"/>
                </a:solidFill>
                <a:latin typeface="Nimbus Roman"/>
              </a:rPr>
              <a:t>The kitchen and dining area pair ample cabinetry with leafy window views.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254160" y="3718800"/>
            <a:ext cx="99612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0" i="1" sz="1000">
                <a:solidFill>
                  <a:srgbClr val="000000"/>
                </a:solidFill>
                <a:latin typeface="Nimbus Roman"/>
              </a:rPr>
              <a:t>The dining area connects easily to the kitchen and greenery beyond.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1995120" y="5122080"/>
            <a:ext cx="99612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0" i="1" sz="1000">
                <a:solidFill>
                  <a:srgbClr val="000000"/>
                </a:solidFill>
                <a:latin typeface="Nimbus Roman"/>
              </a:rPr>
              <a:t>The spacious primary bedroom features a large window and calming accent walls.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280440" y="6542280"/>
            <a:ext cx="99612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0" i="1" sz="1000">
                <a:solidFill>
                  <a:srgbClr val="000000"/>
                </a:solidFill>
                <a:latin typeface="Nimbus Roman"/>
              </a:rPr>
              <a:t>A bright secondary bedroom is staged as a practical home office.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3778200" y="341280"/>
            <a:ext cx="258696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3651120" y="785880"/>
            <a:ext cx="2824920" cy="551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31800" bIns="45000" anchor="t">
            <a:noAutofit/>
          </a:bodyPr>
          <a:p>
            <a:pPr marL="216000" indent="-21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This 4-bedroom, 2-bath cathedral-entry townhome offers over 1,700 square feet across a practical three-level split layout.</a:t>
            </a:r>
            <a:endParaRPr lang="en-C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782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Set on desirable Happyvale Avenue, the home backs onto peaceful school district land for privacy and open outlooks.</a:t>
            </a:r>
          </a:p>
          <a:p>
            <a:pPr marL="216000" indent="-216000">
              <a:lnSpc>
                <a:spcPct val="100000"/>
              </a:lnSpc>
              <a:spcBef>
                <a:spcPts val="2782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Thoughtful 2012 updates include the kitchen, flooring, appliances, windows, roof, decks, and railings for lasting value.</a:t>
            </a:r>
          </a:p>
          <a:p>
            <a:pPr marL="216000" indent="-216000">
              <a:lnSpc>
                <a:spcPct val="100000"/>
              </a:lnSpc>
              <a:spcBef>
                <a:spcPts val="2782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The sunny dining room opens to a sundeck overlooking the fenced backyard and mature green space beyond.</a:t>
            </a:r>
          </a:p>
          <a:p>
            <a:pPr marL="216000" indent="-216000">
              <a:lnSpc>
                <a:spcPct val="100000"/>
              </a:lnSpc>
              <a:spcBef>
                <a:spcPts val="2782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Flexible living includes main-floor laundry, a generous rec room, and a basement bedroom ideal for guests or office use.</a:t>
            </a:r>
          </a:p>
          <a:p>
            <a:pPr marL="216000" indent="-216000">
              <a:lnSpc>
                <a:spcPct val="100000"/>
              </a:lnSpc>
              <a:spcBef>
                <a:spcPts val="2782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A double garage with workshop space, rear yard pass-through, and four total parking spaces adds everyday convenience.</a:t>
            </a:r>
          </a:p>
        </p:txBody>
      </p:sp>
      <p:sp>
        <p:nvSpPr>
          <p:cNvPr id="24" name=""/>
          <p:cNvSpPr/>
          <p:nvPr/>
        </p:nvSpPr>
        <p:spPr>
          <a:xfrm>
            <a:off x="7111800" y="1428840"/>
            <a:ext cx="258696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7139160" y="4844520"/>
            <a:ext cx="258696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i="1" sz="1600">
                <a:solidFill>
                  <a:srgbClr val="000000"/>
                </a:solidFill>
                <a:latin typeface="Nimbus Roman"/>
              </a:rPr>
              <a:t>Bright Brocklehurst Living With Private Green Space Views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7132320" y="6575400"/>
            <a:ext cx="258696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i="1" sz="2000">
                <a:solidFill>
                  <a:srgbClr val="000000"/>
                </a:solidFill>
                <a:latin typeface="Nimbus Roman"/>
              </a:rPr>
              <a:t>$499,900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7132320" y="6130800"/>
            <a:ext cx="258696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i="1" sz="1600">
                <a:solidFill>
                  <a:srgbClr val="000000"/>
                </a:solidFill>
                <a:latin typeface="Nimbus Roman"/>
              </a:rPr>
              <a:t>4 Bedrooms &amp; 2 Baths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" name="Picture 28" descr="DSC03372.jpg"/>
          <p:cNvPicPr>
            <a:picLocks noChangeAspect="1"/>
          </p:cNvPicPr>
          <p:nvPr/>
        </p:nvPicPr>
        <p:blipFill>
          <a:blip r:embed="rId3"/>
          <a:srcRect l="6728" r="6728"/>
          <a:stretch>
            <a:fillRect/>
          </a:stretch>
        </p:blipFill>
        <p:spPr>
          <a:xfrm>
            <a:off x="1255320" y="270000"/>
            <a:ext cx="1765080" cy="1357560"/>
          </a:xfrm>
          <a:prstGeom prst="rect">
            <a:avLst/>
          </a:prstGeom>
        </p:spPr>
      </p:pic>
      <p:pic>
        <p:nvPicPr>
          <p:cNvPr id="30" name="Picture 29" descr="DSC03381.jpg"/>
          <p:cNvPicPr>
            <a:picLocks noChangeAspect="1"/>
          </p:cNvPicPr>
          <p:nvPr/>
        </p:nvPicPr>
        <p:blipFill>
          <a:blip r:embed="rId4"/>
          <a:srcRect l="7403" r="7403"/>
          <a:stretch>
            <a:fillRect/>
          </a:stretch>
        </p:blipFill>
        <p:spPr>
          <a:xfrm>
            <a:off x="240480" y="1755720"/>
            <a:ext cx="1801080" cy="1410480"/>
          </a:xfrm>
          <a:prstGeom prst="rect">
            <a:avLst/>
          </a:prstGeom>
        </p:spPr>
      </p:pic>
      <p:pic>
        <p:nvPicPr>
          <p:cNvPr id="31" name="Picture 30" descr="DSC03411.jpg"/>
          <p:cNvPicPr>
            <a:picLocks noChangeAspect="1"/>
          </p:cNvPicPr>
          <p:nvPr/>
        </p:nvPicPr>
        <p:blipFill>
          <a:blip r:embed="rId5"/>
          <a:srcRect l="7502" r="7502"/>
          <a:stretch>
            <a:fillRect/>
          </a:stretch>
        </p:blipFill>
        <p:spPr>
          <a:xfrm>
            <a:off x="239760" y="4661640"/>
            <a:ext cx="1703160" cy="1333800"/>
          </a:xfrm>
          <a:prstGeom prst="rect">
            <a:avLst/>
          </a:prstGeom>
        </p:spPr>
      </p:pic>
      <p:pic>
        <p:nvPicPr>
          <p:cNvPr id="32" name="Picture 31" descr="DSC03378.jpg"/>
          <p:cNvPicPr>
            <a:picLocks noChangeAspect="1"/>
          </p:cNvPicPr>
          <p:nvPr/>
        </p:nvPicPr>
        <p:blipFill>
          <a:blip r:embed="rId6"/>
          <a:srcRect l="6507" r="6507"/>
          <a:stretch>
            <a:fillRect/>
          </a:stretch>
        </p:blipFill>
        <p:spPr>
          <a:xfrm>
            <a:off x="1319760" y="3267720"/>
            <a:ext cx="1699560" cy="1303560"/>
          </a:xfrm>
          <a:prstGeom prst="rect">
            <a:avLst/>
          </a:prstGeom>
        </p:spPr>
      </p:pic>
      <p:pic>
        <p:nvPicPr>
          <p:cNvPr id="33" name="Picture 32" descr="DSC03408.jpg"/>
          <p:cNvPicPr>
            <a:picLocks noChangeAspect="1"/>
          </p:cNvPicPr>
          <p:nvPr/>
        </p:nvPicPr>
        <p:blipFill>
          <a:blip r:embed="rId7"/>
          <a:srcRect l="7536" r="7536"/>
          <a:stretch>
            <a:fillRect/>
          </a:stretch>
        </p:blipFill>
        <p:spPr>
          <a:xfrm>
            <a:off x="1380960" y="6063840"/>
            <a:ext cx="1639800" cy="1285200"/>
          </a:xfrm>
          <a:prstGeom prst="rect">
            <a:avLst/>
          </a:prstGeom>
        </p:spPr>
      </p:pic>
      <p:pic>
        <p:nvPicPr>
          <p:cNvPr id="34" name="Picture 33" descr="DSC03343.jpg"/>
          <p:cNvPicPr>
            <a:picLocks noChangeAspect="1"/>
          </p:cNvPicPr>
          <p:nvPr/>
        </p:nvPicPr>
        <p:blipFill>
          <a:blip r:embed="rId8"/>
          <a:srcRect l="4088" r="4088"/>
          <a:stretch>
            <a:fillRect/>
          </a:stretch>
        </p:blipFill>
        <p:spPr>
          <a:xfrm>
            <a:off x="7064640" y="2086920"/>
            <a:ext cx="2665080" cy="1936440"/>
          </a:xfrm>
          <a:prstGeom prst="rect">
            <a:avLst/>
          </a:prstGeom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"/>
          <p:cNvSpPr/>
          <p:nvPr/>
        </p:nvSpPr>
        <p:spPr>
          <a:xfrm>
            <a:off x="315720" y="699120"/>
            <a:ext cx="99612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0" i="1" sz="1000">
                <a:solidFill>
                  <a:srgbClr val="000000"/>
                </a:solidFill>
                <a:latin typeface="Nimbus Roman"/>
              </a:rPr>
              <a:t>The fenced backyard offers mature shade trees and open lawn views.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1975680" y="2120400"/>
            <a:ext cx="104508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0" i="1" sz="1000">
                <a:solidFill>
                  <a:srgbClr val="000000"/>
                </a:solidFill>
                <a:latin typeface="Nimbus Roman"/>
              </a:rPr>
              <a:t>A covered balcony overlooks green space, creating an inviting outdoor retreat.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289800" y="3593160"/>
            <a:ext cx="103284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0" i="1" sz="1000">
                <a:solidFill>
                  <a:srgbClr val="000000"/>
                </a:solidFill>
                <a:latin typeface="Nimbus Roman"/>
              </a:rPr>
              <a:t>The lower-level rec room provides flexible space for work, fitness, or relaxing.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308520" y="6614280"/>
            <a:ext cx="102276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0" i="1" sz="1000">
                <a:solidFill>
                  <a:srgbClr val="000000"/>
                </a:solidFill>
                <a:latin typeface="Nimbus Roman"/>
              </a:rPr>
              <a:t>A wide exterior view highlights driveway access and surrounding open space.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1879200" y="5130720"/>
            <a:ext cx="114912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0" i="1" sz="1000">
                <a:solidFill>
                  <a:srgbClr val="000000"/>
                </a:solidFill>
                <a:latin typeface="Nimbus Roman"/>
              </a:rPr>
              <a:t>The full bathroom includes a large vanity mirror and natural window light.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3778200" y="341640"/>
            <a:ext cx="258696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7132320" y="342000"/>
            <a:ext cx="258696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3600000" y="786240"/>
            <a:ext cx="2930760" cy="659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508000" bIns="45000" anchor="t">
            <a:spAutoFit/>
          </a:bodyPr>
          <a:p>
            <a:pPr>
              <a:lnSpc>
                <a:spcPct val="200000"/>
              </a:lnSpc>
              <a:spcBef>
                <a:spcPts val="0"/>
              </a:spcBef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Location:	Brocklehurst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Style:	Cathedral Entry</a:t>
            </a: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Heating:	Forced Air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Central Air</a:t>
            </a: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Includes:	Dishwasher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Electric Range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Refrigerator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Washer/Dryer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Deck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Private Yard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Pet Friendly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Rental Friendly</a:t>
            </a: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Taxes:	$3,145 (2025)</a:t>
            </a:r>
          </a:p>
        </p:txBody>
      </p:sp>
      <p:sp>
        <p:nvSpPr>
          <p:cNvPr id="42" name=""/>
          <p:cNvSpPr/>
          <p:nvPr/>
        </p:nvSpPr>
        <p:spPr>
          <a:xfrm>
            <a:off x="6966720" y="768960"/>
            <a:ext cx="2952000" cy="53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1000" bIns="45000" anchor="t">
            <a:spAutoFit/>
          </a:bodyPr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  <a:tabLst>
                <a:tab algn="l" pos="1479240"/>
              </a:tabLst>
            </a:pPr>
            <a:r>
              <a:rPr b="1" i="1" sz="1400">
                <a:solidFill>
                  <a:srgbClr val="000000"/>
                </a:solidFill>
                <a:latin typeface="Nimbus Roman"/>
              </a:rPr>
              <a:t>Main (1,046 sq. ft.)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tabLst>
                <a:tab algn="l" pos="1479240"/>
              </a:tabLst>
            </a:pPr>
            <a:r>
              <a:rPr b="1" i="1" sz="1400">
                <a:solidFill>
                  <a:srgbClr val="000000"/>
                </a:solidFill>
                <a:latin typeface="Nimbus Roman"/>
              </a:rPr>
              <a:t>Kitchen	10' 4" x 13' 11"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tabLst>
                <a:tab algn="l" pos="1479240"/>
              </a:tabLst>
            </a:pPr>
            <a:r>
              <a:rPr b="1" i="1" sz="1400">
                <a:solidFill>
                  <a:srgbClr val="000000"/>
                </a:solidFill>
                <a:latin typeface="Nimbus Roman"/>
              </a:rPr>
              <a:t>Living Room	14' 4" x 14' 9"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tabLst>
                <a:tab algn="l" pos="1479240"/>
              </a:tabLst>
            </a:pPr>
            <a:r>
              <a:rPr b="1" i="1" sz="1400">
                <a:solidFill>
                  <a:srgbClr val="000000"/>
                </a:solidFill>
                <a:latin typeface="Nimbus Roman"/>
              </a:rPr>
              <a:t>Dining Room	9' 2" x 8' 9"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tabLst>
                <a:tab algn="l" pos="1479240"/>
              </a:tabLst>
            </a:pPr>
            <a:r>
              <a:rPr b="1" i="1" sz="1400">
                <a:solidFill>
                  <a:srgbClr val="000000"/>
                </a:solidFill>
                <a:latin typeface="Nimbus Roman"/>
              </a:rPr>
              <a:t>Primary Bedroom	11' 8" x 10' 6"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tabLst>
                <a:tab algn="l" pos="1479240"/>
              </a:tabLst>
            </a:pPr>
            <a:r>
              <a:rPr b="1" i="1" sz="1400">
                <a:solidFill>
                  <a:srgbClr val="000000"/>
                </a:solidFill>
                <a:latin typeface="Nimbus Roman"/>
              </a:rPr>
              <a:t>Bedroom	8' 3" x 8' 9"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tabLst>
                <a:tab algn="l" pos="1479240"/>
              </a:tabLst>
            </a:pPr>
            <a:r>
              <a:rPr b="1" i="1" sz="1400">
                <a:solidFill>
                  <a:srgbClr val="000000"/>
                </a:solidFill>
                <a:latin typeface="Nimbus Roman"/>
              </a:rPr>
              <a:t>Bedroom	9' 8" x 9' 9"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tabLst>
                <a:tab algn="l" pos="1479240"/>
              </a:tabLst>
            </a:pPr>
            <a:r>
              <a:rPr b="1" i="1" sz="1400">
                <a:solidFill>
                  <a:srgbClr val="000000"/>
                </a:solidFill>
                <a:latin typeface="Nimbus Roman"/>
              </a:rPr>
              <a:t>Bathroom - Full	4 PCE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tabLst>
                <a:tab algn="l" pos="1479240"/>
              </a:tabLst>
            </a:pPr>
            <a:r>
              <a:rPr b="1" i="1" sz="1400">
                <a:solidFill>
                  <a:srgbClr val="000000"/>
                </a:solidFill>
                <a:latin typeface="Nimbus Roman"/>
              </a:rPr>
              <a:t>Ensuite - Half	2 PCE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tabLst>
                <a:tab algn="l" pos="1479240"/>
              </a:tabLst>
            </a:pPr>
            <a:r>
              <a:rPr b="1" i="1" sz="1400">
                <a:solidFill>
                  <a:srgbClr val="000000"/>
                </a:solidFill>
                <a:latin typeface="Nimbus Roman"/>
              </a:rPr>
              <a:t>Laundry	9' 3" x 3'</a:t>
            </a:r>
          </a:p>
          <a:p>
            <a:pPr algn="ctr">
              <a:lnSpc>
                <a:spcPct val="150000"/>
              </a:lnSpc>
              <a:spcBef>
                <a:spcPts val="1200"/>
              </a:spcBef>
              <a:spcAft>
                <a:spcPts val="200"/>
              </a:spcAft>
              <a:tabLst>
                <a:tab algn="l" pos="1479240"/>
              </a:tabLst>
            </a:pPr>
            <a:r>
              <a:rPr b="1" i="1" sz="1400">
                <a:solidFill>
                  <a:srgbClr val="000000"/>
                </a:solidFill>
                <a:latin typeface="Nimbus Roman"/>
              </a:rPr>
              <a:t>Basement (674.9 sq. ft.)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tabLst>
                <a:tab algn="l" pos="1479240"/>
              </a:tabLst>
            </a:pPr>
            <a:r>
              <a:rPr b="1" i="1" sz="1400">
                <a:solidFill>
                  <a:srgbClr val="000000"/>
                </a:solidFill>
                <a:latin typeface="Nimbus Roman"/>
              </a:rPr>
              <a:t>Bedroom	12' 7" x 12'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tabLst>
                <a:tab algn="l" pos="1479240"/>
              </a:tabLst>
            </a:pPr>
            <a:r>
              <a:rPr b="1" i="1" sz="1400">
                <a:solidFill>
                  <a:srgbClr val="000000"/>
                </a:solidFill>
                <a:latin typeface="Nimbus Roman"/>
              </a:rPr>
              <a:t>Family Room	19' 3" x 12' 6"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tabLst>
                <a:tab algn="l" pos="1479240"/>
              </a:tabLst>
            </a:pPr>
            <a:r>
              <a:rPr b="1" i="1" sz="1400">
                <a:solidFill>
                  <a:srgbClr val="000000"/>
                </a:solidFill>
                <a:latin typeface="Nimbus Roman"/>
              </a:rPr>
              <a:t>Storage	18' 9" x 6'</a:t>
            </a:r>
          </a:p>
        </p:txBody>
      </p:sp>
      <p:sp>
        <p:nvSpPr>
          <p:cNvPr id="43" name=""/>
          <p:cNvSpPr/>
          <p:nvPr/>
        </p:nvSpPr>
        <p:spPr>
          <a:xfrm>
            <a:off x="7091640" y="6444720"/>
            <a:ext cx="258696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i="1" sz="1600">
                <a:solidFill>
                  <a:srgbClr val="000000"/>
                </a:solidFill>
                <a:latin typeface="Nimbus Roman"/>
              </a:rPr>
              <a:t>Total (1,721 sq. ft.)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" name="Picture 43" descr="DSC03349.jpg"/>
          <p:cNvPicPr>
            <a:picLocks noChangeAspect="1"/>
          </p:cNvPicPr>
          <p:nvPr/>
        </p:nvPicPr>
        <p:blipFill>
          <a:blip r:embed="rId3"/>
          <a:srcRect l="6812" r="6812"/>
          <a:stretch>
            <a:fillRect/>
          </a:stretch>
        </p:blipFill>
        <p:spPr>
          <a:xfrm>
            <a:off x="1322640" y="241560"/>
            <a:ext cx="1697400" cy="1311120"/>
          </a:xfrm>
          <a:prstGeom prst="rect">
            <a:avLst/>
          </a:prstGeom>
        </p:spPr>
      </p:pic>
      <p:pic>
        <p:nvPicPr>
          <p:cNvPr id="45" name="Picture 44" descr="DSC03388.jpg"/>
          <p:cNvPicPr>
            <a:picLocks noChangeAspect="1"/>
          </p:cNvPicPr>
          <p:nvPr/>
        </p:nvPicPr>
        <p:blipFill>
          <a:blip r:embed="rId4"/>
          <a:srcRect l="8505" r="8505"/>
          <a:stretch>
            <a:fillRect/>
          </a:stretch>
        </p:blipFill>
        <p:spPr>
          <a:xfrm>
            <a:off x="329760" y="1672920"/>
            <a:ext cx="1645200" cy="1322640"/>
          </a:xfrm>
          <a:prstGeom prst="rect">
            <a:avLst/>
          </a:prstGeom>
        </p:spPr>
      </p:pic>
      <p:pic>
        <p:nvPicPr>
          <p:cNvPr id="46" name="Picture 45" descr="DSC03428.jpg"/>
          <p:cNvPicPr>
            <a:picLocks noChangeAspect="1"/>
          </p:cNvPicPr>
          <p:nvPr/>
        </p:nvPicPr>
        <p:blipFill>
          <a:blip r:embed="rId5"/>
          <a:srcRect l="8810" r="8810"/>
          <a:stretch>
            <a:fillRect/>
          </a:stretch>
        </p:blipFill>
        <p:spPr>
          <a:xfrm>
            <a:off x="1323360" y="3106080"/>
            <a:ext cx="1696680" cy="1374120"/>
          </a:xfrm>
          <a:prstGeom prst="rect">
            <a:avLst/>
          </a:prstGeom>
        </p:spPr>
      </p:pic>
      <p:pic>
        <p:nvPicPr>
          <p:cNvPr id="47" name="Picture 46" descr="DSC03399.jpg"/>
          <p:cNvPicPr>
            <a:picLocks noChangeAspect="1"/>
          </p:cNvPicPr>
          <p:nvPr/>
        </p:nvPicPr>
        <p:blipFill>
          <a:blip r:embed="rId6"/>
          <a:srcRect l="13798" r="13798"/>
          <a:stretch>
            <a:fillRect/>
          </a:stretch>
        </p:blipFill>
        <p:spPr>
          <a:xfrm>
            <a:off x="289800" y="4596840"/>
            <a:ext cx="1588680" cy="1460520"/>
          </a:xfrm>
          <a:prstGeom prst="rect">
            <a:avLst/>
          </a:prstGeom>
        </p:spPr>
      </p:pic>
      <p:pic>
        <p:nvPicPr>
          <p:cNvPr id="48" name="Picture 47" descr="DSC03442.jpg"/>
          <p:cNvPicPr>
            <a:picLocks noChangeAspect="1"/>
          </p:cNvPicPr>
          <p:nvPr/>
        </p:nvPicPr>
        <p:blipFill>
          <a:blip r:embed="rId7"/>
          <a:srcRect l="6811" r="6811"/>
          <a:stretch>
            <a:fillRect/>
          </a:stretch>
        </p:blipFill>
        <p:spPr>
          <a:xfrm>
            <a:off x="1332000" y="6153840"/>
            <a:ext cx="1695600" cy="1309680"/>
          </a:xfrm>
          <a:prstGeom prst="rect">
            <a:avLst/>
          </a:prstGeom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144</TotalTime>
  <Application>LibreOffice/25.8.6.2$Linux_X86_64 LibreOffice_project/580$Build-2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2026-04-23T13:36:01Z</dcterms:created>
  <dc:creator/>
  <dc:description/>
  <dc:language>en-CA</dc:language>
  <cp:lastModifiedBy/>
  <dcterms:modified xsi:type="dcterms:W3CDTF">2026-05-02T21:25:33Z</dcterms:modified>
  <cp:revision>20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